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 object 19" descr="bg object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08884" cy="1556639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805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122" y="1194308"/>
            <a:ext cx="10865486" cy="46450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805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idx="1"/>
          </p:nvPr>
        </p:nvSpPr>
        <p:spPr>
          <a:xfrm>
            <a:off x="838122" y="1194308"/>
            <a:ext cx="10865486" cy="464502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9" descr="bg object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08884" cy="1556639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805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805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8059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9" descr="bg object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3008884" cy="15566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290" y="6387315"/>
            <a:ext cx="451744" cy="4318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63500">
              <a:spcBef>
                <a:spcPts val="100"/>
              </a:spcBef>
              <a:defRPr sz="2800" spc="-50">
                <a:solidFill>
                  <a:srgbClr val="4766AC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6350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-50" baseline="0"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4"/>
          <p:cNvSpPr/>
          <p:nvPr/>
        </p:nvSpPr>
        <p:spPr>
          <a:xfrm>
            <a:off x="0" y="6121272"/>
            <a:ext cx="12192001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6" name="object 6" descr="objec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527" y="401065"/>
            <a:ext cx="5747132" cy="889001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object 7"/>
          <p:cNvSpPr txBox="1">
            <a:spLocks noGrp="1"/>
          </p:cNvSpPr>
          <p:nvPr>
            <p:ph type="title"/>
          </p:nvPr>
        </p:nvSpPr>
        <p:spPr>
          <a:xfrm>
            <a:off x="3275601" y="2011425"/>
            <a:ext cx="6301106" cy="360681"/>
          </a:xfrm>
          <a:prstGeom prst="rect">
            <a:avLst/>
          </a:prstGeom>
        </p:spPr>
        <p:txBody>
          <a:bodyPr/>
          <a:lstStyle/>
          <a:p>
            <a:pPr indent="12700">
              <a:defRPr sz="2200">
                <a:solidFill>
                  <a:srgbClr val="3B201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CORNERSTONE</a:t>
            </a:r>
            <a:r>
              <a:rPr spc="-100"/>
              <a:t>  </a:t>
            </a:r>
            <a:r>
              <a:t>PROJECT</a:t>
            </a:r>
            <a:r>
              <a:rPr spc="500"/>
              <a:t> </a:t>
            </a:r>
            <a:r>
              <a:t>BASED</a:t>
            </a:r>
            <a:r>
              <a:rPr spc="300"/>
              <a:t> </a:t>
            </a:r>
            <a:r>
              <a:rPr spc="-100"/>
              <a:t>LEARNING</a:t>
            </a:r>
          </a:p>
        </p:txBody>
      </p:sp>
      <p:sp>
        <p:nvSpPr>
          <p:cNvPr id="78" name="object 5"/>
          <p:cNvSpPr txBox="1"/>
          <p:nvPr/>
        </p:nvSpPr>
        <p:spPr>
          <a:xfrm>
            <a:off x="1820416" y="3093465"/>
            <a:ext cx="8999985" cy="1384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400" b="1" u="sng">
                <a:solidFill>
                  <a:srgbClr val="1F37FF"/>
                </a:solidFill>
                <a:uFill>
                  <a:solidFill>
                    <a:srgbClr val="1F37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</a:t>
            </a:r>
            <a:r>
              <a:rPr spc="80"/>
              <a:t> </a:t>
            </a:r>
            <a:r>
              <a:t>-</a:t>
            </a:r>
            <a:r>
              <a:rPr spc="80"/>
              <a:t> </a:t>
            </a:r>
            <a:r>
              <a:t>EMPLOYEE</a:t>
            </a:r>
            <a:r>
              <a:rPr spc="135"/>
              <a:t> </a:t>
            </a:r>
            <a:r>
              <a:t>PAYROLL</a:t>
            </a:r>
            <a:r>
              <a:rPr spc="45"/>
              <a:t> </a:t>
            </a:r>
            <a:r>
              <a:t>MANAGEMENT</a:t>
            </a:r>
            <a:r>
              <a:rPr spc="100"/>
              <a:t> </a:t>
            </a:r>
            <a:r>
              <a:rPr spc="-10"/>
              <a:t>SYSTEM</a:t>
            </a:r>
          </a:p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endParaRPr spc="-10"/>
          </a:p>
          <a:p>
            <a:pPr>
              <a:defRPr sz="2400">
                <a:latin typeface="Arial"/>
                <a:ea typeface="Arial"/>
                <a:cs typeface="Arial"/>
                <a:sym typeface="Arial"/>
              </a:defRPr>
            </a:pPr>
            <a:endParaRPr spc="-10"/>
          </a:p>
          <a:p>
            <a:pPr marR="573405"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</a:t>
            </a:r>
            <a:r>
              <a:rPr spc="455"/>
              <a:t> </a:t>
            </a:r>
            <a:r>
              <a:rPr spc="60"/>
              <a:t>MANAGEMENT</a:t>
            </a:r>
            <a:r>
              <a:rPr spc="195"/>
              <a:t> </a:t>
            </a:r>
            <a:r>
              <a:rPr spc="-10"/>
              <a:t>SYSTEM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bject 4"/>
          <p:cNvSpPr txBox="1">
            <a:spLocks noGrp="1"/>
          </p:cNvSpPr>
          <p:nvPr>
            <p:ph type="title"/>
          </p:nvPr>
        </p:nvSpPr>
        <p:spPr>
          <a:xfrm>
            <a:off x="4343399" y="838199"/>
            <a:ext cx="3046098" cy="428324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TEAM</a:t>
            </a:r>
            <a:r>
              <a:rPr spc="500"/>
              <a:t> </a:t>
            </a:r>
            <a:r>
              <a:rPr spc="-100"/>
              <a:t>MEMBERS</a:t>
            </a:r>
          </a:p>
        </p:txBody>
      </p:sp>
      <p:sp>
        <p:nvSpPr>
          <p:cNvPr id="81" name="object 2"/>
          <p:cNvSpPr txBox="1"/>
          <p:nvPr/>
        </p:nvSpPr>
        <p:spPr>
          <a:xfrm>
            <a:off x="1252218" y="2147976"/>
            <a:ext cx="4157983" cy="1350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20000"/>
              </a:lnSpc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</a:t>
            </a:r>
            <a:r>
              <a:rPr spc="215"/>
              <a:t> </a:t>
            </a:r>
            <a:r>
              <a:t>.</a:t>
            </a:r>
            <a:r>
              <a:rPr spc="-80"/>
              <a:t> </a:t>
            </a:r>
            <a:r>
              <a:rPr spc="-45"/>
              <a:t>VISHNU</a:t>
            </a:r>
            <a:r>
              <a:rPr spc="-145"/>
              <a:t> </a:t>
            </a:r>
            <a:r>
              <a:t>VARDHAN</a:t>
            </a:r>
            <a:r>
              <a:rPr spc="279"/>
              <a:t> </a:t>
            </a:r>
            <a:r>
              <a:rPr spc="-10"/>
              <a:t>REDDY </a:t>
            </a:r>
          </a:p>
          <a:p>
            <a:pPr marR="5080" indent="12700">
              <a:lnSpc>
                <a:spcPct val="120000"/>
              </a:lnSpc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</a:t>
            </a:r>
            <a:r>
              <a:rPr spc="155"/>
              <a:t> </a:t>
            </a:r>
            <a:r>
              <a:t>.</a:t>
            </a:r>
            <a:r>
              <a:rPr spc="-135"/>
              <a:t> </a:t>
            </a:r>
            <a:r>
              <a:rPr spc="-10"/>
              <a:t>PRATHYUSHA</a:t>
            </a:r>
          </a:p>
          <a:p>
            <a:pPr indent="12700">
              <a:spcBef>
                <a:spcPts val="6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</a:t>
            </a:r>
            <a:r>
              <a:rPr spc="295"/>
              <a:t> </a:t>
            </a:r>
            <a:r>
              <a:t>.</a:t>
            </a:r>
            <a:r>
              <a:rPr spc="-69"/>
              <a:t> </a:t>
            </a:r>
            <a:r>
              <a:rPr spc="-104"/>
              <a:t>SATYA </a:t>
            </a:r>
            <a:r>
              <a:rPr spc="-459"/>
              <a:t> </a:t>
            </a:r>
            <a:r>
              <a:rPr spc="-10"/>
              <a:t>SARISHMA</a:t>
            </a:r>
          </a:p>
          <a:p>
            <a:pPr indent="12700">
              <a:spcBef>
                <a:spcPts val="8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T.</a:t>
            </a:r>
            <a:r>
              <a:rPr spc="30"/>
              <a:t> </a:t>
            </a:r>
            <a:r>
              <a:rPr spc="-10"/>
              <a:t>NIKHIL</a:t>
            </a:r>
          </a:p>
        </p:txBody>
      </p:sp>
      <p:sp>
        <p:nvSpPr>
          <p:cNvPr id="82" name="object 3"/>
          <p:cNvSpPr txBox="1"/>
          <p:nvPr/>
        </p:nvSpPr>
        <p:spPr>
          <a:xfrm>
            <a:off x="6058725" y="2212746"/>
            <a:ext cx="2099946" cy="1234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30480">
              <a:spcBef>
                <a:spcPts val="600"/>
              </a:spcBef>
              <a:tabLst>
                <a:tab pos="5334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—	</a:t>
            </a:r>
            <a:r>
              <a:rPr spc="-10"/>
              <a:t>25B11CS618</a:t>
            </a:r>
          </a:p>
          <a:p>
            <a:pPr indent="12700">
              <a:spcBef>
                <a:spcPts val="500"/>
              </a:spcBef>
              <a:tabLst>
                <a:tab pos="5080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—	</a:t>
            </a:r>
            <a:r>
              <a:rPr spc="-10"/>
              <a:t>25B11CS726</a:t>
            </a:r>
          </a:p>
          <a:p>
            <a:pPr indent="43180">
              <a:spcBef>
                <a:spcPts val="500"/>
              </a:spcBef>
              <a:tabLst>
                <a:tab pos="5334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—	</a:t>
            </a:r>
            <a:r>
              <a:rPr spc="-10"/>
              <a:t>25B11CS181</a:t>
            </a:r>
          </a:p>
          <a:p>
            <a:pPr indent="35559">
              <a:spcBef>
                <a:spcPts val="400"/>
              </a:spcBef>
              <a:tabLst>
                <a:tab pos="5334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—	</a:t>
            </a:r>
            <a:r>
              <a:rPr spc="-10"/>
              <a:t>25B11CS959</a:t>
            </a:r>
          </a:p>
        </p:txBody>
      </p:sp>
      <p:grpSp>
        <p:nvGrpSpPr>
          <p:cNvPr id="89" name="object 5"/>
          <p:cNvGrpSpPr/>
          <p:nvPr/>
        </p:nvGrpSpPr>
        <p:grpSpPr>
          <a:xfrm>
            <a:off x="8807195" y="2746501"/>
            <a:ext cx="1512064" cy="827787"/>
            <a:chOff x="0" y="0"/>
            <a:chExt cx="1512063" cy="827786"/>
          </a:xfrm>
        </p:grpSpPr>
        <p:grpSp>
          <p:nvGrpSpPr>
            <p:cNvPr id="85" name="object 6"/>
            <p:cNvGrpSpPr/>
            <p:nvPr/>
          </p:nvGrpSpPr>
          <p:grpSpPr>
            <a:xfrm>
              <a:off x="0" y="0"/>
              <a:ext cx="1512064" cy="827787"/>
              <a:chOff x="0" y="0"/>
              <a:chExt cx="1512062" cy="827786"/>
            </a:xfrm>
          </p:grpSpPr>
          <p:sp>
            <p:nvSpPr>
              <p:cNvPr id="83" name="Shape"/>
              <p:cNvSpPr/>
              <p:nvPr/>
            </p:nvSpPr>
            <p:spPr>
              <a:xfrm>
                <a:off x="0" y="0"/>
                <a:ext cx="1512063" cy="827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6522"/>
                    </a:moveTo>
                    <a:lnTo>
                      <a:pt x="11551" y="454"/>
                    </a:lnTo>
                    <a:lnTo>
                      <a:pt x="11551" y="6091"/>
                    </a:lnTo>
                    <a:lnTo>
                      <a:pt x="11493" y="6283"/>
                    </a:lnTo>
                    <a:lnTo>
                      <a:pt x="11337" y="6439"/>
                    </a:lnTo>
                    <a:lnTo>
                      <a:pt x="11103" y="6545"/>
                    </a:lnTo>
                    <a:lnTo>
                      <a:pt x="10818" y="6585"/>
                    </a:lnTo>
                    <a:lnTo>
                      <a:pt x="10533" y="6545"/>
                    </a:lnTo>
                    <a:lnTo>
                      <a:pt x="10299" y="6439"/>
                    </a:lnTo>
                    <a:lnTo>
                      <a:pt x="10141" y="6283"/>
                    </a:lnTo>
                    <a:lnTo>
                      <a:pt x="10083" y="6091"/>
                    </a:lnTo>
                    <a:lnTo>
                      <a:pt x="10141" y="5899"/>
                    </a:lnTo>
                    <a:lnTo>
                      <a:pt x="10299" y="5743"/>
                    </a:lnTo>
                    <a:lnTo>
                      <a:pt x="10533" y="5637"/>
                    </a:lnTo>
                    <a:lnTo>
                      <a:pt x="10818" y="5597"/>
                    </a:lnTo>
                    <a:lnTo>
                      <a:pt x="11103" y="5637"/>
                    </a:lnTo>
                    <a:lnTo>
                      <a:pt x="11337" y="5743"/>
                    </a:lnTo>
                    <a:lnTo>
                      <a:pt x="11493" y="5899"/>
                    </a:lnTo>
                    <a:lnTo>
                      <a:pt x="11551" y="6091"/>
                    </a:lnTo>
                    <a:lnTo>
                      <a:pt x="11551" y="454"/>
                    </a:lnTo>
                    <a:lnTo>
                      <a:pt x="10800" y="0"/>
                    </a:lnTo>
                    <a:lnTo>
                      <a:pt x="0" y="6522"/>
                    </a:lnTo>
                    <a:lnTo>
                      <a:pt x="10800" y="13044"/>
                    </a:lnTo>
                    <a:lnTo>
                      <a:pt x="18744" y="8242"/>
                    </a:lnTo>
                    <a:lnTo>
                      <a:pt x="18744" y="10508"/>
                    </a:lnTo>
                    <a:lnTo>
                      <a:pt x="18650" y="10654"/>
                    </a:lnTo>
                    <a:lnTo>
                      <a:pt x="18578" y="10836"/>
                    </a:lnTo>
                    <a:lnTo>
                      <a:pt x="18532" y="11049"/>
                    </a:lnTo>
                    <a:lnTo>
                      <a:pt x="18516" y="11284"/>
                    </a:lnTo>
                    <a:lnTo>
                      <a:pt x="18516" y="11519"/>
                    </a:lnTo>
                    <a:lnTo>
                      <a:pt x="18563" y="11735"/>
                    </a:lnTo>
                    <a:lnTo>
                      <a:pt x="18643" y="11897"/>
                    </a:lnTo>
                    <a:lnTo>
                      <a:pt x="18545" y="12006"/>
                    </a:lnTo>
                    <a:lnTo>
                      <a:pt x="18467" y="12162"/>
                    </a:lnTo>
                    <a:lnTo>
                      <a:pt x="18416" y="12354"/>
                    </a:lnTo>
                    <a:lnTo>
                      <a:pt x="18400" y="12556"/>
                    </a:lnTo>
                    <a:lnTo>
                      <a:pt x="18398" y="21302"/>
                    </a:lnTo>
                    <a:lnTo>
                      <a:pt x="18527" y="21425"/>
                    </a:lnTo>
                    <a:lnTo>
                      <a:pt x="18674" y="21520"/>
                    </a:lnTo>
                    <a:lnTo>
                      <a:pt x="18839" y="21580"/>
                    </a:lnTo>
                    <a:lnTo>
                      <a:pt x="19018" y="21600"/>
                    </a:lnTo>
                    <a:lnTo>
                      <a:pt x="19196" y="21580"/>
                    </a:lnTo>
                    <a:lnTo>
                      <a:pt x="19363" y="21520"/>
                    </a:lnTo>
                    <a:lnTo>
                      <a:pt x="19510" y="21425"/>
                    </a:lnTo>
                    <a:lnTo>
                      <a:pt x="19637" y="21302"/>
                    </a:lnTo>
                    <a:lnTo>
                      <a:pt x="19637" y="12556"/>
                    </a:lnTo>
                    <a:lnTo>
                      <a:pt x="19396" y="11887"/>
                    </a:lnTo>
                    <a:lnTo>
                      <a:pt x="19474" y="11725"/>
                    </a:lnTo>
                    <a:lnTo>
                      <a:pt x="19523" y="11519"/>
                    </a:lnTo>
                    <a:lnTo>
                      <a:pt x="19523" y="11284"/>
                    </a:lnTo>
                    <a:lnTo>
                      <a:pt x="19506" y="11049"/>
                    </a:lnTo>
                    <a:lnTo>
                      <a:pt x="19459" y="10836"/>
                    </a:lnTo>
                    <a:lnTo>
                      <a:pt x="19387" y="10654"/>
                    </a:lnTo>
                    <a:lnTo>
                      <a:pt x="19292" y="10508"/>
                    </a:lnTo>
                    <a:lnTo>
                      <a:pt x="19292" y="7914"/>
                    </a:lnTo>
                    <a:lnTo>
                      <a:pt x="21493" y="6585"/>
                    </a:lnTo>
                    <a:lnTo>
                      <a:pt x="21600" y="6522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84" name="Shape"/>
              <p:cNvSpPr/>
              <p:nvPr/>
            </p:nvSpPr>
            <p:spPr>
              <a:xfrm>
                <a:off x="293116" y="409829"/>
                <a:ext cx="925831" cy="3595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2452"/>
                    </a:moveTo>
                    <a:lnTo>
                      <a:pt x="21324" y="9728"/>
                    </a:lnTo>
                    <a:lnTo>
                      <a:pt x="21001" y="7317"/>
                    </a:lnTo>
                    <a:lnTo>
                      <a:pt x="10800" y="7317"/>
                    </a:lnTo>
                    <a:lnTo>
                      <a:pt x="2201" y="0"/>
                    </a:lnTo>
                    <a:lnTo>
                      <a:pt x="1588" y="2220"/>
                    </a:lnTo>
                    <a:lnTo>
                      <a:pt x="1067" y="4608"/>
                    </a:lnTo>
                    <a:lnTo>
                      <a:pt x="631" y="7126"/>
                    </a:lnTo>
                    <a:lnTo>
                      <a:pt x="276" y="9766"/>
                    </a:lnTo>
                    <a:lnTo>
                      <a:pt x="0" y="12498"/>
                    </a:lnTo>
                    <a:lnTo>
                      <a:pt x="1316" y="12925"/>
                    </a:lnTo>
                    <a:lnTo>
                      <a:pt x="2584" y="13474"/>
                    </a:lnTo>
                    <a:lnTo>
                      <a:pt x="3807" y="14138"/>
                    </a:lnTo>
                    <a:lnTo>
                      <a:pt x="4981" y="14916"/>
                    </a:lnTo>
                    <a:lnTo>
                      <a:pt x="6101" y="15794"/>
                    </a:lnTo>
                    <a:lnTo>
                      <a:pt x="7159" y="16778"/>
                    </a:lnTo>
                    <a:lnTo>
                      <a:pt x="8154" y="17854"/>
                    </a:lnTo>
                    <a:lnTo>
                      <a:pt x="9081" y="19021"/>
                    </a:lnTo>
                    <a:lnTo>
                      <a:pt x="9935" y="20265"/>
                    </a:lnTo>
                    <a:lnTo>
                      <a:pt x="10714" y="21600"/>
                    </a:lnTo>
                    <a:lnTo>
                      <a:pt x="11502" y="20250"/>
                    </a:lnTo>
                    <a:lnTo>
                      <a:pt x="12370" y="18983"/>
                    </a:lnTo>
                    <a:lnTo>
                      <a:pt x="13313" y="17808"/>
                    </a:lnTo>
                    <a:lnTo>
                      <a:pt x="14323" y="16725"/>
                    </a:lnTo>
                    <a:lnTo>
                      <a:pt x="15399" y="15733"/>
                    </a:lnTo>
                    <a:lnTo>
                      <a:pt x="16536" y="14848"/>
                    </a:lnTo>
                    <a:lnTo>
                      <a:pt x="17727" y="14069"/>
                    </a:lnTo>
                    <a:lnTo>
                      <a:pt x="18975" y="13413"/>
                    </a:lnTo>
                    <a:lnTo>
                      <a:pt x="20267" y="12864"/>
                    </a:lnTo>
                    <a:lnTo>
                      <a:pt x="21600" y="12452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88" name="object 7"/>
            <p:cNvGrpSpPr/>
            <p:nvPr/>
          </p:nvGrpSpPr>
          <p:grpSpPr>
            <a:xfrm>
              <a:off x="0" y="0"/>
              <a:ext cx="1512062" cy="827787"/>
              <a:chOff x="0" y="0"/>
              <a:chExt cx="1512061" cy="827786"/>
            </a:xfrm>
          </p:grpSpPr>
          <p:sp>
            <p:nvSpPr>
              <p:cNvPr id="86" name="Shape"/>
              <p:cNvSpPr/>
              <p:nvPr/>
            </p:nvSpPr>
            <p:spPr>
              <a:xfrm>
                <a:off x="0" y="0"/>
                <a:ext cx="1512062" cy="8277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0" y="6522"/>
                    </a:lnTo>
                    <a:lnTo>
                      <a:pt x="10800" y="13044"/>
                    </a:lnTo>
                    <a:lnTo>
                      <a:pt x="18744" y="8242"/>
                    </a:lnTo>
                    <a:lnTo>
                      <a:pt x="18744" y="10508"/>
                    </a:lnTo>
                    <a:lnTo>
                      <a:pt x="18650" y="10654"/>
                    </a:lnTo>
                    <a:lnTo>
                      <a:pt x="18578" y="10836"/>
                    </a:lnTo>
                    <a:lnTo>
                      <a:pt x="18532" y="11049"/>
                    </a:lnTo>
                    <a:lnTo>
                      <a:pt x="18516" y="11284"/>
                    </a:lnTo>
                    <a:lnTo>
                      <a:pt x="18516" y="11519"/>
                    </a:lnTo>
                    <a:lnTo>
                      <a:pt x="18563" y="11735"/>
                    </a:lnTo>
                    <a:lnTo>
                      <a:pt x="18643" y="11897"/>
                    </a:lnTo>
                    <a:lnTo>
                      <a:pt x="18545" y="12006"/>
                    </a:lnTo>
                    <a:lnTo>
                      <a:pt x="18467" y="12162"/>
                    </a:lnTo>
                    <a:lnTo>
                      <a:pt x="18416" y="12354"/>
                    </a:lnTo>
                    <a:lnTo>
                      <a:pt x="18400" y="12573"/>
                    </a:lnTo>
                    <a:lnTo>
                      <a:pt x="18400" y="21302"/>
                    </a:lnTo>
                    <a:lnTo>
                      <a:pt x="18527" y="21424"/>
                    </a:lnTo>
                    <a:lnTo>
                      <a:pt x="18674" y="21520"/>
                    </a:lnTo>
                    <a:lnTo>
                      <a:pt x="18839" y="21580"/>
                    </a:lnTo>
                    <a:lnTo>
                      <a:pt x="19018" y="21600"/>
                    </a:lnTo>
                    <a:lnTo>
                      <a:pt x="19198" y="21580"/>
                    </a:lnTo>
                    <a:lnTo>
                      <a:pt x="19363" y="21520"/>
                    </a:lnTo>
                    <a:lnTo>
                      <a:pt x="19510" y="21424"/>
                    </a:lnTo>
                    <a:lnTo>
                      <a:pt x="19637" y="21302"/>
                    </a:lnTo>
                    <a:lnTo>
                      <a:pt x="19637" y="12556"/>
                    </a:lnTo>
                    <a:lnTo>
                      <a:pt x="19619" y="12341"/>
                    </a:lnTo>
                    <a:lnTo>
                      <a:pt x="19570" y="12152"/>
                    </a:lnTo>
                    <a:lnTo>
                      <a:pt x="19494" y="11996"/>
                    </a:lnTo>
                    <a:lnTo>
                      <a:pt x="19396" y="11887"/>
                    </a:lnTo>
                    <a:lnTo>
                      <a:pt x="19474" y="11725"/>
                    </a:lnTo>
                    <a:lnTo>
                      <a:pt x="19523" y="11516"/>
                    </a:lnTo>
                    <a:lnTo>
                      <a:pt x="19523" y="11284"/>
                    </a:lnTo>
                    <a:lnTo>
                      <a:pt x="19506" y="11049"/>
                    </a:lnTo>
                    <a:lnTo>
                      <a:pt x="19459" y="10836"/>
                    </a:lnTo>
                    <a:lnTo>
                      <a:pt x="19387" y="10654"/>
                    </a:lnTo>
                    <a:lnTo>
                      <a:pt x="19292" y="10508"/>
                    </a:lnTo>
                    <a:lnTo>
                      <a:pt x="19292" y="7914"/>
                    </a:lnTo>
                    <a:lnTo>
                      <a:pt x="21600" y="6522"/>
                    </a:lnTo>
                    <a:lnTo>
                      <a:pt x="10800" y="0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4766A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87" name="Shape"/>
              <p:cNvSpPr/>
              <p:nvPr/>
            </p:nvSpPr>
            <p:spPr>
              <a:xfrm>
                <a:off x="293243" y="214502"/>
                <a:ext cx="925704" cy="5548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28" y="0"/>
                    </a:moveTo>
                    <a:lnTo>
                      <a:pt x="11293" y="59"/>
                    </a:lnTo>
                    <a:lnTo>
                      <a:pt x="11676" y="218"/>
                    </a:lnTo>
                    <a:lnTo>
                      <a:pt x="11931" y="450"/>
                    </a:lnTo>
                    <a:lnTo>
                      <a:pt x="12025" y="737"/>
                    </a:lnTo>
                    <a:lnTo>
                      <a:pt x="11931" y="1023"/>
                    </a:lnTo>
                    <a:lnTo>
                      <a:pt x="11676" y="1256"/>
                    </a:lnTo>
                    <a:lnTo>
                      <a:pt x="11293" y="1414"/>
                    </a:lnTo>
                    <a:lnTo>
                      <a:pt x="10828" y="1473"/>
                    </a:lnTo>
                    <a:lnTo>
                      <a:pt x="10363" y="1414"/>
                    </a:lnTo>
                    <a:lnTo>
                      <a:pt x="9981" y="1256"/>
                    </a:lnTo>
                    <a:lnTo>
                      <a:pt x="9723" y="1023"/>
                    </a:lnTo>
                    <a:lnTo>
                      <a:pt x="9631" y="737"/>
                    </a:lnTo>
                    <a:lnTo>
                      <a:pt x="9723" y="450"/>
                    </a:lnTo>
                    <a:lnTo>
                      <a:pt x="9981" y="218"/>
                    </a:lnTo>
                    <a:lnTo>
                      <a:pt x="10363" y="59"/>
                    </a:lnTo>
                    <a:lnTo>
                      <a:pt x="10828" y="0"/>
                    </a:lnTo>
                    <a:close/>
                    <a:moveTo>
                      <a:pt x="19404" y="7599"/>
                    </a:moveTo>
                    <a:lnTo>
                      <a:pt x="10798" y="12345"/>
                    </a:lnTo>
                    <a:lnTo>
                      <a:pt x="2199" y="7604"/>
                    </a:lnTo>
                    <a:lnTo>
                      <a:pt x="1585" y="9042"/>
                    </a:lnTo>
                    <a:lnTo>
                      <a:pt x="1064" y="10590"/>
                    </a:lnTo>
                    <a:lnTo>
                      <a:pt x="628" y="12221"/>
                    </a:lnTo>
                    <a:lnTo>
                      <a:pt x="276" y="13932"/>
                    </a:lnTo>
                    <a:lnTo>
                      <a:pt x="0" y="15702"/>
                    </a:lnTo>
                    <a:lnTo>
                      <a:pt x="1313" y="15979"/>
                    </a:lnTo>
                    <a:lnTo>
                      <a:pt x="2581" y="16335"/>
                    </a:lnTo>
                    <a:lnTo>
                      <a:pt x="3808" y="16765"/>
                    </a:lnTo>
                    <a:lnTo>
                      <a:pt x="4981" y="17269"/>
                    </a:lnTo>
                    <a:lnTo>
                      <a:pt x="6099" y="17838"/>
                    </a:lnTo>
                    <a:lnTo>
                      <a:pt x="7157" y="18475"/>
                    </a:lnTo>
                    <a:lnTo>
                      <a:pt x="8152" y="19173"/>
                    </a:lnTo>
                    <a:lnTo>
                      <a:pt x="9080" y="19929"/>
                    </a:lnTo>
                    <a:lnTo>
                      <a:pt x="9933" y="20735"/>
                    </a:lnTo>
                    <a:lnTo>
                      <a:pt x="10713" y="21600"/>
                    </a:lnTo>
                    <a:lnTo>
                      <a:pt x="11501" y="20725"/>
                    </a:lnTo>
                    <a:lnTo>
                      <a:pt x="12369" y="19904"/>
                    </a:lnTo>
                    <a:lnTo>
                      <a:pt x="13311" y="19143"/>
                    </a:lnTo>
                    <a:lnTo>
                      <a:pt x="14322" y="18441"/>
                    </a:lnTo>
                    <a:lnTo>
                      <a:pt x="15398" y="17798"/>
                    </a:lnTo>
                    <a:lnTo>
                      <a:pt x="16536" y="17225"/>
                    </a:lnTo>
                    <a:lnTo>
                      <a:pt x="17730" y="16720"/>
                    </a:lnTo>
                    <a:lnTo>
                      <a:pt x="18974" y="16290"/>
                    </a:lnTo>
                    <a:lnTo>
                      <a:pt x="20266" y="15939"/>
                    </a:lnTo>
                    <a:lnTo>
                      <a:pt x="21600" y="15672"/>
                    </a:lnTo>
                    <a:lnTo>
                      <a:pt x="21324" y="13907"/>
                    </a:lnTo>
                    <a:lnTo>
                      <a:pt x="20972" y="12202"/>
                    </a:lnTo>
                    <a:lnTo>
                      <a:pt x="20536" y="10575"/>
                    </a:lnTo>
                    <a:lnTo>
                      <a:pt x="20015" y="9033"/>
                    </a:lnTo>
                    <a:lnTo>
                      <a:pt x="19404" y="7599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4766A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 3"/>
          <p:cNvSpPr txBox="1">
            <a:spLocks noGrp="1"/>
          </p:cNvSpPr>
          <p:nvPr>
            <p:ph type="title"/>
          </p:nvPr>
        </p:nvSpPr>
        <p:spPr>
          <a:xfrm>
            <a:off x="2328667" y="1647056"/>
            <a:ext cx="7325360" cy="611116"/>
          </a:xfrm>
          <a:prstGeom prst="rect">
            <a:avLst/>
          </a:prstGeom>
        </p:spPr>
        <p:txBody>
          <a:bodyPr/>
          <a:lstStyle/>
          <a:p>
            <a:pPr indent="2072004">
              <a:spcBef>
                <a:spcPts val="100"/>
              </a:spcBef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</a:t>
            </a:r>
            <a:r>
              <a:rPr spc="-200"/>
              <a:t> </a:t>
            </a:r>
            <a:r>
              <a:t>STATEMENT</a:t>
            </a:r>
          </a:p>
        </p:txBody>
      </p:sp>
      <p:sp>
        <p:nvSpPr>
          <p:cNvPr id="92" name="object 2"/>
          <p:cNvSpPr txBox="1"/>
          <p:nvPr/>
        </p:nvSpPr>
        <p:spPr>
          <a:xfrm>
            <a:off x="1234565" y="2880398"/>
            <a:ext cx="5571491" cy="2466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40665" indent="-227965" algn="just">
              <a:spcBef>
                <a:spcPts val="1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  <a:tab pos="34925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</a:t>
            </a:r>
            <a:r>
              <a:rPr spc="-11"/>
              <a:t>  </a:t>
            </a:r>
            <a:r>
              <a:t>payroll</a:t>
            </a:r>
            <a:r>
              <a:rPr spc="331"/>
              <a:t> </a:t>
            </a:r>
            <a:r>
              <a:rPr spc="61"/>
              <a:t>management </a:t>
            </a:r>
            <a:r>
              <a:rPr spc="-33"/>
              <a:t>is</a:t>
            </a:r>
            <a:r>
              <a:rPr spc="118"/>
              <a:t> </a:t>
            </a:r>
            <a:r>
              <a:t>time-</a:t>
            </a:r>
            <a:r>
              <a:rPr spc="-11"/>
              <a:t>consuming.</a:t>
            </a:r>
          </a:p>
          <a:p>
            <a:pPr marL="240665" indent="-227965" algn="just">
              <a:spcBef>
                <a:spcPts val="14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</a:t>
            </a:r>
            <a:r>
              <a:rPr spc="472"/>
              <a:t> </a:t>
            </a:r>
            <a:r>
              <a:t>records</a:t>
            </a:r>
            <a:r>
              <a:rPr spc="257"/>
              <a:t> </a:t>
            </a:r>
            <a:r>
              <a:t>may</a:t>
            </a:r>
            <a:r>
              <a:rPr spc="427"/>
              <a:t> </a:t>
            </a:r>
            <a:r>
              <a:t>be</a:t>
            </a:r>
            <a:r>
              <a:rPr spc="450"/>
              <a:t> </a:t>
            </a:r>
            <a:r>
              <a:t>difficult</a:t>
            </a:r>
            <a:r>
              <a:rPr spc="84"/>
              <a:t> </a:t>
            </a:r>
            <a:r>
              <a:t>to</a:t>
            </a:r>
            <a:r>
              <a:rPr spc="202"/>
              <a:t> </a:t>
            </a:r>
            <a:r>
              <a:rPr spc="-11"/>
              <a:t>maintain.</a:t>
            </a:r>
          </a:p>
          <a:p>
            <a:pPr marL="240665" indent="-227965" algn="just">
              <a:spcBef>
                <a:spcPts val="14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</a:t>
            </a:r>
            <a:r>
              <a:rPr spc="495"/>
              <a:t> </a:t>
            </a:r>
            <a:r>
              <a:t>salary</a:t>
            </a:r>
            <a:r>
              <a:rPr spc="128"/>
              <a:t> </a:t>
            </a:r>
            <a:r>
              <a:rPr spc="50"/>
              <a:t>calculations</a:t>
            </a:r>
            <a:r>
              <a:rPr spc="478"/>
              <a:t> </a:t>
            </a:r>
            <a:r>
              <a:t>can</a:t>
            </a:r>
            <a:r>
              <a:rPr spc="151"/>
              <a:t>  </a:t>
            </a:r>
            <a:r>
              <a:rPr spc="56"/>
              <a:t>cause</a:t>
            </a:r>
            <a:r>
              <a:rPr spc="516"/>
              <a:t> </a:t>
            </a:r>
            <a:r>
              <a:rPr spc="-11"/>
              <a:t>errors.</a:t>
            </a:r>
          </a:p>
          <a:p>
            <a:pPr marL="240665" indent="-227965" algn="just">
              <a:spcBef>
                <a:spcPts val="13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</a:tabLst>
              <a:defRPr spc="73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Attendance</a:t>
            </a:r>
            <a:r>
              <a:rPr spc="101"/>
              <a:t>  </a:t>
            </a:r>
            <a:r>
              <a:rPr spc="0"/>
              <a:t>and</a:t>
            </a:r>
            <a:r>
              <a:rPr spc="488"/>
              <a:t> </a:t>
            </a:r>
            <a:r>
              <a:rPr spc="0"/>
              <a:t>leave</a:t>
            </a:r>
            <a:r>
              <a:rPr spc="483"/>
              <a:t> </a:t>
            </a:r>
            <a:r>
              <a:rPr spc="0"/>
              <a:t>records</a:t>
            </a:r>
            <a:r>
              <a:rPr spc="275"/>
              <a:t> </a:t>
            </a:r>
            <a:r>
              <a:rPr spc="0"/>
              <a:t>may</a:t>
            </a:r>
            <a:r>
              <a:rPr spc="421"/>
              <a:t> </a:t>
            </a:r>
            <a:r>
              <a:rPr spc="0"/>
              <a:t>be</a:t>
            </a:r>
            <a:r>
              <a:rPr spc="427"/>
              <a:t> </a:t>
            </a:r>
            <a:r>
              <a:rPr spc="-11"/>
              <a:t>scattered.</a:t>
            </a:r>
          </a:p>
          <a:p>
            <a:pPr marL="240665" indent="-227965" algn="just">
              <a:spcBef>
                <a:spcPts val="14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  <a:tab pos="42037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Maintaining</a:t>
            </a:r>
            <a:r>
              <a:rPr spc="438"/>
              <a:t> </a:t>
            </a:r>
            <a:r>
              <a:t>payroll</a:t>
            </a:r>
            <a:r>
              <a:rPr spc="371"/>
              <a:t> </a:t>
            </a:r>
            <a:r>
              <a:t>history</a:t>
            </a:r>
            <a:r>
              <a:rPr spc="106"/>
              <a:t> </a:t>
            </a:r>
            <a:r>
              <a:rPr spc="45"/>
              <a:t>becomes </a:t>
            </a:r>
            <a:r>
              <a:rPr spc="-11"/>
              <a:t>difficult.</a:t>
            </a:r>
          </a:p>
          <a:p>
            <a:pPr marL="240665" indent="-227965" algn="just">
              <a:spcBef>
                <a:spcPts val="14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28600" algn="l"/>
              </a:tabLst>
              <a:defRPr spc="6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Generating</a:t>
            </a:r>
            <a:r>
              <a:rPr spc="478"/>
              <a:t> </a:t>
            </a:r>
            <a:r>
              <a:rPr spc="0"/>
              <a:t>reports</a:t>
            </a:r>
            <a:r>
              <a:rPr spc="78"/>
              <a:t> </a:t>
            </a:r>
            <a:r>
              <a:rPr spc="0"/>
              <a:t>manually</a:t>
            </a:r>
            <a:r>
              <a:rPr spc="326"/>
              <a:t> </a:t>
            </a:r>
            <a:r>
              <a:rPr spc="0"/>
              <a:t>requires</a:t>
            </a:r>
            <a:r>
              <a:rPr spc="56"/>
              <a:t> </a:t>
            </a:r>
            <a:r>
              <a:rPr spc="0"/>
              <a:t>extra</a:t>
            </a:r>
            <a:r>
              <a:rPr spc="128"/>
              <a:t> </a:t>
            </a:r>
            <a:r>
              <a:rPr spc="-11"/>
              <a:t>effort.</a:t>
            </a:r>
          </a:p>
        </p:txBody>
      </p:sp>
      <p:sp>
        <p:nvSpPr>
          <p:cNvPr id="93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083290" y="6387315"/>
            <a:ext cx="263972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5"/>
          <p:cNvSpPr txBox="1">
            <a:spLocks noGrp="1"/>
          </p:cNvSpPr>
          <p:nvPr>
            <p:ph type="title"/>
          </p:nvPr>
        </p:nvSpPr>
        <p:spPr>
          <a:xfrm>
            <a:off x="4546851" y="1159145"/>
            <a:ext cx="4481705" cy="413576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NEED</a:t>
            </a:r>
            <a:r>
              <a:rPr spc="-200"/>
              <a:t> </a:t>
            </a:r>
            <a:r>
              <a:t>FOR</a:t>
            </a:r>
            <a:r>
              <a:rPr spc="-200"/>
              <a:t> </a:t>
            </a:r>
            <a:r>
              <a:rPr spc="0"/>
              <a:t>THE</a:t>
            </a:r>
            <a:r>
              <a:rPr spc="-200"/>
              <a:t> </a:t>
            </a:r>
            <a:r>
              <a:t>SYSTEM</a:t>
            </a:r>
          </a:p>
        </p:txBody>
      </p:sp>
      <p:sp>
        <p:nvSpPr>
          <p:cNvPr id="96" name="object 2"/>
          <p:cNvSpPr txBox="1"/>
          <p:nvPr/>
        </p:nvSpPr>
        <p:spPr>
          <a:xfrm>
            <a:off x="1402461" y="2244435"/>
            <a:ext cx="4173221" cy="11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17804" indent="-205104">
              <a:spcBef>
                <a:spcPts val="100"/>
              </a:spcBef>
              <a:buSzPct val="100000"/>
              <a:buFont typeface="Tahoma"/>
              <a:buChar char="•"/>
              <a:tabLst>
                <a:tab pos="215900" algn="l"/>
              </a:tabLst>
              <a:defRPr sz="1700" spc="-3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-55"/>
              <a:t> </a:t>
            </a:r>
            <a:r>
              <a:rPr spc="0"/>
              <a:t>reduce  </a:t>
            </a:r>
            <a:r>
              <a:rPr spc="45"/>
              <a:t>manual</a:t>
            </a:r>
            <a:r>
              <a:rPr spc="494"/>
              <a:t> </a:t>
            </a:r>
            <a:r>
              <a:rPr spc="-20"/>
              <a:t>work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95"/>
              <a:t> </a:t>
            </a:r>
            <a:r>
              <a:t>improve</a:t>
            </a:r>
            <a:r>
              <a:rPr spc="400"/>
              <a:t> </a:t>
            </a:r>
            <a:r>
              <a:t>payroll</a:t>
            </a:r>
            <a:r>
              <a:rPr spc="275"/>
              <a:t> </a:t>
            </a:r>
            <a:r>
              <a:rPr spc="34"/>
              <a:t>accuracy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75"/>
              <a:t> </a:t>
            </a:r>
            <a:r>
              <a:t>maintain</a:t>
            </a:r>
            <a:r>
              <a:rPr spc="5"/>
              <a:t>  </a:t>
            </a:r>
            <a:r>
              <a:t>centralized</a:t>
            </a:r>
            <a:r>
              <a:rPr spc="455"/>
              <a:t> </a:t>
            </a:r>
            <a:r>
              <a:rPr spc="-10"/>
              <a:t>employee  </a:t>
            </a:r>
            <a:r>
              <a:rPr sz="1600" spc="-10"/>
              <a:t>records</a:t>
            </a:r>
            <a:r>
              <a:rPr spc="-10"/>
              <a:t> </a:t>
            </a:r>
          </a:p>
        </p:txBody>
      </p:sp>
      <p:sp>
        <p:nvSpPr>
          <p:cNvPr id="97" name="object 4"/>
          <p:cNvSpPr txBox="1"/>
          <p:nvPr/>
        </p:nvSpPr>
        <p:spPr>
          <a:xfrm>
            <a:off x="1402461" y="3709858"/>
            <a:ext cx="4404361" cy="1896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17804" indent="-205104">
              <a:spcBef>
                <a:spcPts val="100"/>
              </a:spcBef>
              <a:buSzPct val="100000"/>
              <a:buChar char="•"/>
              <a:tabLst>
                <a:tab pos="215900" algn="l"/>
              </a:tabLst>
              <a:defRPr sz="1600" spc="-2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-165"/>
              <a:t> </a:t>
            </a:r>
            <a:r>
              <a:rPr spc="0"/>
              <a:t>simplify</a:t>
            </a:r>
            <a:r>
              <a:rPr spc="-5"/>
              <a:t> </a:t>
            </a:r>
            <a:r>
              <a:rPr spc="75"/>
              <a:t>attendance</a:t>
            </a:r>
            <a:r>
              <a:rPr spc="-20"/>
              <a:t>  </a:t>
            </a:r>
            <a:r>
              <a:rPr spc="35"/>
              <a:t>management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80"/>
              <a:t> </a:t>
            </a:r>
            <a:r>
              <a:rPr spc="60"/>
              <a:t>manage</a:t>
            </a:r>
            <a:r>
              <a:rPr spc="160"/>
              <a:t> </a:t>
            </a:r>
            <a:r>
              <a:t>leave</a:t>
            </a:r>
            <a:r>
              <a:rPr spc="475"/>
              <a:t> </a:t>
            </a:r>
            <a:r>
              <a:rPr spc="-10"/>
              <a:t>efficiently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70"/>
              <a:t> </a:t>
            </a:r>
            <a:r>
              <a:t>maintain</a:t>
            </a:r>
            <a:r>
              <a:rPr spc="450"/>
              <a:t> </a:t>
            </a:r>
            <a:r>
              <a:t>salary</a:t>
            </a:r>
            <a:r>
              <a:rPr spc="140"/>
              <a:t> </a:t>
            </a:r>
            <a:r>
              <a:t>and</a:t>
            </a:r>
            <a:r>
              <a:rPr spc="185"/>
              <a:t> </a:t>
            </a:r>
            <a:r>
              <a:t>payroll</a:t>
            </a:r>
            <a:r>
              <a:rPr spc="195"/>
              <a:t> </a:t>
            </a:r>
            <a:r>
              <a:rPr spc="-10"/>
              <a:t>information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10"/>
              <a:t> </a:t>
            </a:r>
            <a:r>
              <a:t>reduce</a:t>
            </a:r>
            <a:r>
              <a:rPr spc="494"/>
              <a:t> </a:t>
            </a:r>
            <a:r>
              <a:rPr spc="50"/>
              <a:t>data</a:t>
            </a:r>
            <a:r>
              <a:rPr spc="10"/>
              <a:t>  </a:t>
            </a:r>
            <a:r>
              <a:rPr spc="-10"/>
              <a:t>redundancy</a:t>
            </a:r>
          </a:p>
          <a:p>
            <a:pPr marL="217804" indent="-205104">
              <a:spcBef>
                <a:spcPts val="1500"/>
              </a:spcBef>
              <a:buSzPct val="100000"/>
              <a:buChar char="•"/>
              <a:tabLst>
                <a:tab pos="2159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</a:t>
            </a:r>
            <a:r>
              <a:rPr spc="150"/>
              <a:t> </a:t>
            </a:r>
            <a:r>
              <a:t>improve</a:t>
            </a:r>
            <a:r>
              <a:rPr spc="430"/>
              <a:t> </a:t>
            </a:r>
            <a:r>
              <a:t>transparency</a:t>
            </a:r>
            <a:r>
              <a:rPr spc="459"/>
              <a:t> </a:t>
            </a:r>
            <a:r>
              <a:t>and</a:t>
            </a:r>
            <a:r>
              <a:rPr spc="40"/>
              <a:t>  </a:t>
            </a:r>
            <a:r>
              <a:rPr spc="-10"/>
              <a:t>reporting</a:t>
            </a:r>
          </a:p>
        </p:txBody>
      </p:sp>
      <p:sp>
        <p:nvSpPr>
          <p:cNvPr id="98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1083290" y="6387315"/>
            <a:ext cx="263972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bject 3"/>
          <p:cNvSpPr txBox="1">
            <a:spLocks noGrp="1"/>
          </p:cNvSpPr>
          <p:nvPr>
            <p:ph type="title"/>
          </p:nvPr>
        </p:nvSpPr>
        <p:spPr>
          <a:xfrm>
            <a:off x="2524890" y="1189202"/>
            <a:ext cx="7325360" cy="754874"/>
          </a:xfrm>
          <a:prstGeom prst="rect">
            <a:avLst/>
          </a:prstGeom>
        </p:spPr>
        <p:txBody>
          <a:bodyPr/>
          <a:lstStyle>
            <a:lvl1pPr indent="2614929">
              <a:spcBef>
                <a:spcPts val="100"/>
              </a:spcBef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OBJECTIVES</a:t>
            </a:r>
          </a:p>
        </p:txBody>
      </p:sp>
      <p:sp>
        <p:nvSpPr>
          <p:cNvPr id="101" name="object 2"/>
          <p:cNvSpPr txBox="1"/>
          <p:nvPr/>
        </p:nvSpPr>
        <p:spPr>
          <a:xfrm>
            <a:off x="1994406" y="2228976"/>
            <a:ext cx="4692972" cy="3418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299084" indent="-286384">
              <a:lnSpc>
                <a:spcPct val="150000"/>
              </a:lnSpc>
              <a:spcBef>
                <a:spcPts val="100"/>
              </a:spcBef>
              <a:buSzPct val="100000"/>
              <a:buFont typeface="Arial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</a:t>
            </a:r>
            <a:r>
              <a:rPr spc="-56"/>
              <a:t> </a:t>
            </a:r>
            <a:r>
              <a:t>employee</a:t>
            </a:r>
            <a:r>
              <a:rPr spc="-16"/>
              <a:t> </a:t>
            </a:r>
            <a:r>
              <a:rPr spc="-11"/>
              <a:t>information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Manage</a:t>
            </a:r>
            <a:r>
              <a:rPr spc="-33"/>
              <a:t> </a:t>
            </a:r>
            <a:r>
              <a:t>department</a:t>
            </a:r>
            <a:r>
              <a:rPr spc="-22"/>
              <a:t> </a:t>
            </a:r>
            <a:r>
              <a:rPr spc="-11"/>
              <a:t>information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</a:t>
            </a:r>
            <a:r>
              <a:rPr spc="-45"/>
              <a:t> </a:t>
            </a:r>
            <a:r>
              <a:t>attendance</a:t>
            </a:r>
            <a:r>
              <a:rPr spc="-22"/>
              <a:t> </a:t>
            </a:r>
            <a:r>
              <a:t>and</a:t>
            </a:r>
            <a:r>
              <a:rPr spc="-22"/>
              <a:t> </a:t>
            </a:r>
            <a:r>
              <a:rPr spc="-11"/>
              <a:t>leave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</a:t>
            </a:r>
            <a:r>
              <a:rPr spc="-45"/>
              <a:t> </a:t>
            </a:r>
            <a:r>
              <a:t>salary</a:t>
            </a:r>
            <a:r>
              <a:rPr spc="-39"/>
              <a:t> </a:t>
            </a:r>
            <a:r>
              <a:rPr spc="-11"/>
              <a:t>details</a:t>
            </a:r>
          </a:p>
          <a:p>
            <a:pPr marL="362584" indent="-349884">
              <a:lnSpc>
                <a:spcPct val="150000"/>
              </a:lnSpc>
              <a:buSzPct val="100000"/>
              <a:buChar char="•"/>
              <a:tabLst>
                <a:tab pos="3556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Manage</a:t>
            </a:r>
            <a:r>
              <a:rPr spc="-28"/>
              <a:t> </a:t>
            </a:r>
            <a:r>
              <a:t>bonuses</a:t>
            </a:r>
            <a:r>
              <a:rPr spc="-22"/>
              <a:t> </a:t>
            </a:r>
            <a:r>
              <a:t>and</a:t>
            </a:r>
            <a:r>
              <a:rPr spc="-22"/>
              <a:t> </a:t>
            </a:r>
            <a:r>
              <a:rPr spc="-11"/>
              <a:t>deductions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Generate</a:t>
            </a:r>
            <a:r>
              <a:rPr spc="-50"/>
              <a:t> </a:t>
            </a:r>
            <a:r>
              <a:t>payroll</a:t>
            </a:r>
            <a:r>
              <a:rPr spc="-28"/>
              <a:t> </a:t>
            </a:r>
            <a:r>
              <a:rPr spc="-11"/>
              <a:t>records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</a:t>
            </a:r>
            <a:r>
              <a:rPr spc="-39"/>
              <a:t> </a:t>
            </a:r>
            <a:r>
              <a:t>manual</a:t>
            </a:r>
            <a:r>
              <a:rPr spc="-16"/>
              <a:t> </a:t>
            </a:r>
            <a:r>
              <a:rPr spc="-11"/>
              <a:t>calculations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</a:t>
            </a:r>
            <a:r>
              <a:rPr spc="-45"/>
              <a:t> </a:t>
            </a:r>
            <a:r>
              <a:t>accurate</a:t>
            </a:r>
            <a:r>
              <a:rPr spc="-39"/>
              <a:t> </a:t>
            </a:r>
            <a:r>
              <a:rPr spc="-11"/>
              <a:t>records</a:t>
            </a:r>
          </a:p>
          <a:p>
            <a:pPr marL="299084" indent="-286384">
              <a:lnSpc>
                <a:spcPct val="150000"/>
              </a:lnSpc>
              <a:buSzPct val="100000"/>
              <a:buChar char="•"/>
              <a:tabLst>
                <a:tab pos="2921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Generate</a:t>
            </a:r>
            <a:r>
              <a:rPr spc="-50"/>
              <a:t> </a:t>
            </a:r>
            <a:r>
              <a:rPr spc="-11"/>
              <a:t>reports</a:t>
            </a:r>
          </a:p>
        </p:txBody>
      </p:sp>
      <p:grpSp>
        <p:nvGrpSpPr>
          <p:cNvPr id="106" name="object 4"/>
          <p:cNvGrpSpPr/>
          <p:nvPr/>
        </p:nvGrpSpPr>
        <p:grpSpPr>
          <a:xfrm>
            <a:off x="8146033" y="2221229"/>
            <a:ext cx="1865378" cy="2415541"/>
            <a:chOff x="0" y="0"/>
            <a:chExt cx="1865376" cy="2415539"/>
          </a:xfrm>
        </p:grpSpPr>
        <p:sp>
          <p:nvSpPr>
            <p:cNvPr id="102" name="object 5"/>
            <p:cNvSpPr/>
            <p:nvPr/>
          </p:nvSpPr>
          <p:spPr>
            <a:xfrm>
              <a:off x="0" y="0"/>
              <a:ext cx="1865377" cy="2415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10" y="0"/>
                  </a:moveTo>
                  <a:lnTo>
                    <a:pt x="212" y="0"/>
                  </a:lnTo>
                  <a:lnTo>
                    <a:pt x="129" y="12"/>
                  </a:lnTo>
                  <a:lnTo>
                    <a:pt x="62" y="48"/>
                  </a:lnTo>
                  <a:lnTo>
                    <a:pt x="16" y="100"/>
                  </a:lnTo>
                  <a:lnTo>
                    <a:pt x="0" y="164"/>
                  </a:lnTo>
                  <a:lnTo>
                    <a:pt x="0" y="21438"/>
                  </a:lnTo>
                  <a:lnTo>
                    <a:pt x="16" y="21501"/>
                  </a:lnTo>
                  <a:lnTo>
                    <a:pt x="62" y="21553"/>
                  </a:lnTo>
                  <a:lnTo>
                    <a:pt x="129" y="21588"/>
                  </a:lnTo>
                  <a:lnTo>
                    <a:pt x="212" y="21600"/>
                  </a:lnTo>
                  <a:lnTo>
                    <a:pt x="21387" y="21600"/>
                  </a:lnTo>
                  <a:lnTo>
                    <a:pt x="21469" y="21588"/>
                  </a:lnTo>
                  <a:lnTo>
                    <a:pt x="21537" y="21553"/>
                  </a:lnTo>
                  <a:lnTo>
                    <a:pt x="21582" y="21501"/>
                  </a:lnTo>
                  <a:lnTo>
                    <a:pt x="21600" y="21438"/>
                  </a:lnTo>
                  <a:lnTo>
                    <a:pt x="21600" y="16942"/>
                  </a:lnTo>
                  <a:lnTo>
                    <a:pt x="3884" y="16942"/>
                  </a:lnTo>
                  <a:lnTo>
                    <a:pt x="3853" y="16918"/>
                  </a:lnTo>
                  <a:lnTo>
                    <a:pt x="3853" y="15891"/>
                  </a:lnTo>
                  <a:lnTo>
                    <a:pt x="3884" y="15866"/>
                  </a:lnTo>
                  <a:lnTo>
                    <a:pt x="21600" y="15866"/>
                  </a:lnTo>
                  <a:lnTo>
                    <a:pt x="21600" y="14257"/>
                  </a:lnTo>
                  <a:lnTo>
                    <a:pt x="3884" y="14257"/>
                  </a:lnTo>
                  <a:lnTo>
                    <a:pt x="3853" y="14234"/>
                  </a:lnTo>
                  <a:lnTo>
                    <a:pt x="3853" y="13206"/>
                  </a:lnTo>
                  <a:lnTo>
                    <a:pt x="3884" y="13181"/>
                  </a:lnTo>
                  <a:lnTo>
                    <a:pt x="21600" y="13181"/>
                  </a:lnTo>
                  <a:lnTo>
                    <a:pt x="21600" y="11572"/>
                  </a:lnTo>
                  <a:lnTo>
                    <a:pt x="3944" y="11572"/>
                  </a:lnTo>
                  <a:lnTo>
                    <a:pt x="3853" y="11504"/>
                  </a:lnTo>
                  <a:lnTo>
                    <a:pt x="3853" y="7883"/>
                  </a:lnTo>
                  <a:lnTo>
                    <a:pt x="3944" y="7813"/>
                  </a:lnTo>
                  <a:lnTo>
                    <a:pt x="21600" y="7813"/>
                  </a:lnTo>
                  <a:lnTo>
                    <a:pt x="21600" y="5864"/>
                  </a:lnTo>
                  <a:lnTo>
                    <a:pt x="21566" y="5838"/>
                  </a:lnTo>
                  <a:lnTo>
                    <a:pt x="14256" y="5838"/>
                  </a:lnTo>
                  <a:lnTo>
                    <a:pt x="14174" y="5826"/>
                  </a:lnTo>
                  <a:lnTo>
                    <a:pt x="14106" y="5791"/>
                  </a:lnTo>
                  <a:lnTo>
                    <a:pt x="14060" y="5737"/>
                  </a:lnTo>
                  <a:lnTo>
                    <a:pt x="14043" y="5674"/>
                  </a:lnTo>
                  <a:lnTo>
                    <a:pt x="14043" y="26"/>
                  </a:lnTo>
                  <a:lnTo>
                    <a:pt x="1401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105" name="object 6"/>
            <p:cNvGrpSpPr/>
            <p:nvPr/>
          </p:nvGrpSpPr>
          <p:grpSpPr>
            <a:xfrm>
              <a:off x="0" y="0"/>
              <a:ext cx="1865377" cy="2415540"/>
              <a:chOff x="0" y="0"/>
              <a:chExt cx="1865376" cy="2415539"/>
            </a:xfrm>
          </p:grpSpPr>
          <p:sp>
            <p:nvSpPr>
              <p:cNvPr id="103" name="Shape"/>
              <p:cNvSpPr/>
              <p:nvPr/>
            </p:nvSpPr>
            <p:spPr>
              <a:xfrm>
                <a:off x="0" y="0"/>
                <a:ext cx="1865377" cy="2415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" y="0"/>
                    </a:moveTo>
                    <a:lnTo>
                      <a:pt x="129" y="12"/>
                    </a:lnTo>
                    <a:lnTo>
                      <a:pt x="62" y="48"/>
                    </a:lnTo>
                    <a:lnTo>
                      <a:pt x="16" y="100"/>
                    </a:lnTo>
                    <a:lnTo>
                      <a:pt x="0" y="164"/>
                    </a:lnTo>
                    <a:lnTo>
                      <a:pt x="0" y="21438"/>
                    </a:lnTo>
                    <a:lnTo>
                      <a:pt x="16" y="21501"/>
                    </a:lnTo>
                    <a:lnTo>
                      <a:pt x="62" y="21553"/>
                    </a:lnTo>
                    <a:lnTo>
                      <a:pt x="129" y="21588"/>
                    </a:lnTo>
                    <a:lnTo>
                      <a:pt x="212" y="21600"/>
                    </a:lnTo>
                    <a:lnTo>
                      <a:pt x="21387" y="21600"/>
                    </a:lnTo>
                    <a:lnTo>
                      <a:pt x="21469" y="21588"/>
                    </a:lnTo>
                    <a:lnTo>
                      <a:pt x="21537" y="21553"/>
                    </a:lnTo>
                    <a:lnTo>
                      <a:pt x="21582" y="21501"/>
                    </a:lnTo>
                    <a:lnTo>
                      <a:pt x="21600" y="21438"/>
                    </a:lnTo>
                    <a:lnTo>
                      <a:pt x="21600" y="5864"/>
                    </a:lnTo>
                    <a:lnTo>
                      <a:pt x="21566" y="5838"/>
                    </a:lnTo>
                    <a:lnTo>
                      <a:pt x="14256" y="5838"/>
                    </a:lnTo>
                    <a:lnTo>
                      <a:pt x="14174" y="5826"/>
                    </a:lnTo>
                    <a:lnTo>
                      <a:pt x="14106" y="5790"/>
                    </a:lnTo>
                    <a:lnTo>
                      <a:pt x="14060" y="5737"/>
                    </a:lnTo>
                    <a:lnTo>
                      <a:pt x="14043" y="5674"/>
                    </a:lnTo>
                    <a:lnTo>
                      <a:pt x="14043" y="26"/>
                    </a:lnTo>
                    <a:lnTo>
                      <a:pt x="14010" y="0"/>
                    </a:lnTo>
                    <a:lnTo>
                      <a:pt x="212" y="0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4766A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04" name="Shape"/>
              <p:cNvSpPr/>
              <p:nvPr/>
            </p:nvSpPr>
            <p:spPr>
              <a:xfrm>
                <a:off x="332740" y="8635"/>
                <a:ext cx="1525652" cy="18859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651" y="10"/>
                    </a:moveTo>
                    <a:lnTo>
                      <a:pt x="13618" y="22"/>
                    </a:lnTo>
                    <a:lnTo>
                      <a:pt x="13595" y="47"/>
                    </a:lnTo>
                    <a:lnTo>
                      <a:pt x="13595" y="6250"/>
                    </a:lnTo>
                    <a:lnTo>
                      <a:pt x="13615" y="6332"/>
                    </a:lnTo>
                    <a:lnTo>
                      <a:pt x="13671" y="6399"/>
                    </a:lnTo>
                    <a:lnTo>
                      <a:pt x="13753" y="6444"/>
                    </a:lnTo>
                    <a:lnTo>
                      <a:pt x="13854" y="6461"/>
                    </a:lnTo>
                    <a:lnTo>
                      <a:pt x="21559" y="6461"/>
                    </a:lnTo>
                    <a:lnTo>
                      <a:pt x="21600" y="6381"/>
                    </a:lnTo>
                    <a:lnTo>
                      <a:pt x="21541" y="6335"/>
                    </a:lnTo>
                    <a:lnTo>
                      <a:pt x="13752" y="28"/>
                    </a:lnTo>
                    <a:lnTo>
                      <a:pt x="13723" y="4"/>
                    </a:lnTo>
                    <a:lnTo>
                      <a:pt x="13683" y="0"/>
                    </a:lnTo>
                    <a:lnTo>
                      <a:pt x="13651" y="10"/>
                    </a:lnTo>
                    <a:close/>
                    <a:moveTo>
                      <a:pt x="248" y="9908"/>
                    </a:moveTo>
                    <a:lnTo>
                      <a:pt x="6613" y="9908"/>
                    </a:lnTo>
                    <a:lnTo>
                      <a:pt x="6723" y="9997"/>
                    </a:lnTo>
                    <a:lnTo>
                      <a:pt x="6723" y="14636"/>
                    </a:lnTo>
                    <a:lnTo>
                      <a:pt x="6613" y="14723"/>
                    </a:lnTo>
                    <a:lnTo>
                      <a:pt x="111" y="14723"/>
                    </a:lnTo>
                    <a:lnTo>
                      <a:pt x="0" y="14636"/>
                    </a:lnTo>
                    <a:lnTo>
                      <a:pt x="0" y="9997"/>
                    </a:lnTo>
                    <a:lnTo>
                      <a:pt x="111" y="9908"/>
                    </a:lnTo>
                    <a:lnTo>
                      <a:pt x="248" y="9908"/>
                    </a:lnTo>
                    <a:close/>
                    <a:moveTo>
                      <a:pt x="9138" y="9908"/>
                    </a:moveTo>
                    <a:lnTo>
                      <a:pt x="16948" y="9908"/>
                    </a:lnTo>
                    <a:lnTo>
                      <a:pt x="16988" y="9940"/>
                    </a:lnTo>
                    <a:lnTo>
                      <a:pt x="16988" y="11257"/>
                    </a:lnTo>
                    <a:lnTo>
                      <a:pt x="16948" y="11286"/>
                    </a:lnTo>
                    <a:lnTo>
                      <a:pt x="9095" y="11286"/>
                    </a:lnTo>
                    <a:lnTo>
                      <a:pt x="9055" y="11257"/>
                    </a:lnTo>
                    <a:lnTo>
                      <a:pt x="9055" y="9939"/>
                    </a:lnTo>
                    <a:lnTo>
                      <a:pt x="9093" y="9908"/>
                    </a:lnTo>
                    <a:lnTo>
                      <a:pt x="9138" y="9908"/>
                    </a:lnTo>
                    <a:close/>
                    <a:moveTo>
                      <a:pt x="1228" y="10826"/>
                    </a:moveTo>
                    <a:lnTo>
                      <a:pt x="1178" y="10826"/>
                    </a:lnTo>
                    <a:lnTo>
                      <a:pt x="1135" y="10861"/>
                    </a:lnTo>
                    <a:lnTo>
                      <a:pt x="1135" y="13773"/>
                    </a:lnTo>
                    <a:lnTo>
                      <a:pt x="1176" y="13805"/>
                    </a:lnTo>
                    <a:lnTo>
                      <a:pt x="5547" y="13805"/>
                    </a:lnTo>
                    <a:lnTo>
                      <a:pt x="5588" y="13773"/>
                    </a:lnTo>
                    <a:lnTo>
                      <a:pt x="5588" y="10861"/>
                    </a:lnTo>
                    <a:lnTo>
                      <a:pt x="5547" y="10826"/>
                    </a:lnTo>
                    <a:lnTo>
                      <a:pt x="1228" y="10826"/>
                    </a:lnTo>
                    <a:close/>
                    <a:moveTo>
                      <a:pt x="9141" y="13347"/>
                    </a:moveTo>
                    <a:lnTo>
                      <a:pt x="16948" y="13347"/>
                    </a:lnTo>
                    <a:lnTo>
                      <a:pt x="16988" y="13379"/>
                    </a:lnTo>
                    <a:lnTo>
                      <a:pt x="16988" y="14692"/>
                    </a:lnTo>
                    <a:lnTo>
                      <a:pt x="16948" y="14723"/>
                    </a:lnTo>
                    <a:lnTo>
                      <a:pt x="9095" y="14723"/>
                    </a:lnTo>
                    <a:lnTo>
                      <a:pt x="9055" y="14692"/>
                    </a:lnTo>
                    <a:lnTo>
                      <a:pt x="9055" y="13379"/>
                    </a:lnTo>
                    <a:lnTo>
                      <a:pt x="9095" y="13347"/>
                    </a:lnTo>
                    <a:lnTo>
                      <a:pt x="9141" y="13347"/>
                    </a:lnTo>
                    <a:close/>
                    <a:moveTo>
                      <a:pt x="85" y="16784"/>
                    </a:moveTo>
                    <a:lnTo>
                      <a:pt x="16948" y="16784"/>
                    </a:lnTo>
                    <a:lnTo>
                      <a:pt x="16988" y="16816"/>
                    </a:lnTo>
                    <a:lnTo>
                      <a:pt x="16988" y="18132"/>
                    </a:lnTo>
                    <a:lnTo>
                      <a:pt x="16948" y="18161"/>
                    </a:lnTo>
                    <a:lnTo>
                      <a:pt x="38" y="18161"/>
                    </a:lnTo>
                    <a:lnTo>
                      <a:pt x="0" y="18132"/>
                    </a:lnTo>
                    <a:lnTo>
                      <a:pt x="0" y="16816"/>
                    </a:lnTo>
                    <a:lnTo>
                      <a:pt x="38" y="16784"/>
                    </a:lnTo>
                    <a:lnTo>
                      <a:pt x="85" y="16784"/>
                    </a:lnTo>
                    <a:close/>
                    <a:moveTo>
                      <a:pt x="85" y="20223"/>
                    </a:moveTo>
                    <a:lnTo>
                      <a:pt x="16948" y="20223"/>
                    </a:lnTo>
                    <a:lnTo>
                      <a:pt x="16988" y="20255"/>
                    </a:lnTo>
                    <a:lnTo>
                      <a:pt x="16988" y="21571"/>
                    </a:lnTo>
                    <a:lnTo>
                      <a:pt x="16948" y="21600"/>
                    </a:lnTo>
                    <a:lnTo>
                      <a:pt x="38" y="21600"/>
                    </a:lnTo>
                    <a:lnTo>
                      <a:pt x="0" y="21571"/>
                    </a:lnTo>
                    <a:lnTo>
                      <a:pt x="0" y="20255"/>
                    </a:lnTo>
                    <a:lnTo>
                      <a:pt x="38" y="20223"/>
                    </a:lnTo>
                    <a:lnTo>
                      <a:pt x="85" y="20223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4766AC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107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1083290" y="6387315"/>
            <a:ext cx="263972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2"/>
          <p:cNvSpPr txBox="1">
            <a:spLocks noGrp="1"/>
          </p:cNvSpPr>
          <p:nvPr>
            <p:ph type="title"/>
          </p:nvPr>
        </p:nvSpPr>
        <p:spPr>
          <a:xfrm>
            <a:off x="1989647" y="1335952"/>
            <a:ext cx="7325360" cy="837075"/>
          </a:xfrm>
          <a:prstGeom prst="rect">
            <a:avLst/>
          </a:prstGeom>
        </p:spPr>
        <p:txBody>
          <a:bodyPr/>
          <a:lstStyle/>
          <a:p>
            <a:pPr indent="2289175">
              <a:spcBef>
                <a:spcPts val="1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REQUIREMENT</a:t>
            </a:r>
            <a:r>
              <a:rPr spc="100"/>
              <a:t> </a:t>
            </a:r>
            <a:r>
              <a:rPr spc="-100"/>
              <a:t>ANALYSIS</a:t>
            </a:r>
          </a:p>
        </p:txBody>
      </p:sp>
      <p:sp>
        <p:nvSpPr>
          <p:cNvPr id="110" name="object 3"/>
          <p:cNvSpPr txBox="1"/>
          <p:nvPr/>
        </p:nvSpPr>
        <p:spPr>
          <a:xfrm>
            <a:off x="1674889" y="2362737"/>
            <a:ext cx="6257878" cy="3433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tabLst>
                <a:tab pos="38227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</a:t>
            </a:r>
            <a:r>
              <a:rPr spc="-50"/>
              <a:t> </a:t>
            </a:r>
            <a:r>
              <a:t>System</a:t>
            </a:r>
            <a:r>
              <a:rPr spc="-15"/>
              <a:t> </a:t>
            </a:r>
            <a:r>
              <a:t>Should</a:t>
            </a:r>
            <a:r>
              <a:rPr spc="120"/>
              <a:t> </a:t>
            </a:r>
            <a:r>
              <a:t>Be</a:t>
            </a:r>
            <a:r>
              <a:rPr spc="175"/>
              <a:t> </a:t>
            </a:r>
            <a:r>
              <a:t>Able</a:t>
            </a:r>
            <a:r>
              <a:rPr spc="55"/>
              <a:t>  </a:t>
            </a:r>
            <a:r>
              <a:rPr spc="-25"/>
              <a:t>To </a:t>
            </a:r>
            <a:r>
              <a:rPr spc="-50"/>
              <a:t>:</a:t>
            </a:r>
          </a:p>
          <a:p>
            <a:pPr marL="255904" indent="-227965">
              <a:spcBef>
                <a:spcPts val="15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540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Add</a:t>
            </a:r>
            <a:r>
              <a:rPr spc="75"/>
              <a:t>  </a:t>
            </a:r>
            <a:r>
              <a:t>employee</a:t>
            </a:r>
            <a:r>
              <a:rPr spc="75"/>
              <a:t>  </a:t>
            </a:r>
            <a:r>
              <a:rPr spc="-10"/>
              <a:t>records</a:t>
            </a:r>
          </a:p>
          <a:p>
            <a:pPr marL="255904" indent="-227965">
              <a:spcBef>
                <a:spcPts val="7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54000" algn="l"/>
                <a:tab pos="1181100" algn="l"/>
                <a:tab pos="2362200" algn="l"/>
              </a:tabLst>
              <a:defRPr sz="1600" spc="-1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Update employee information</a:t>
            </a:r>
          </a:p>
          <a:p>
            <a:pPr marL="255904" indent="-227965">
              <a:spcBef>
                <a:spcPts val="9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54000" algn="l"/>
                <a:tab pos="1054100" algn="l"/>
                <a:tab pos="2603500" algn="l"/>
              </a:tabLst>
              <a:defRPr sz="1600" spc="-1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Delete </a:t>
            </a:r>
            <a:r>
              <a:rPr spc="0"/>
              <a:t>records</a:t>
            </a:r>
            <a:r>
              <a:rPr spc="30"/>
              <a:t>  </a:t>
            </a:r>
            <a:r>
              <a:rPr spc="-20"/>
              <a:t>when </a:t>
            </a:r>
            <a:r>
              <a:t>required</a:t>
            </a:r>
          </a:p>
          <a:p>
            <a:pPr marL="255904" indent="-227965">
              <a:spcBef>
                <a:spcPts val="11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254000" algn="l"/>
                <a:tab pos="23495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Retrieve</a:t>
            </a:r>
            <a:r>
              <a:rPr spc="25"/>
              <a:t>  </a:t>
            </a:r>
            <a:r>
              <a:rPr spc="-10"/>
              <a:t>employee information</a:t>
            </a:r>
          </a:p>
          <a:p>
            <a:pPr marL="324484" indent="-286384">
              <a:spcBef>
                <a:spcPts val="12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317500" algn="l"/>
              </a:tabLst>
              <a:defRPr sz="1600" spc="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Manage</a:t>
            </a:r>
            <a:r>
              <a:rPr spc="209"/>
              <a:t> </a:t>
            </a:r>
            <a:r>
              <a:rPr spc="-10"/>
              <a:t>departments</a:t>
            </a:r>
          </a:p>
          <a:p>
            <a:pPr marL="324484" indent="-286384">
              <a:spcBef>
                <a:spcPts val="9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3175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Record</a:t>
            </a:r>
            <a:r>
              <a:rPr spc="-95"/>
              <a:t> </a:t>
            </a:r>
            <a:r>
              <a:rPr spc="-10"/>
              <a:t>attendance</a:t>
            </a:r>
          </a:p>
          <a:p>
            <a:pPr marL="324484" indent="-286384">
              <a:spcBef>
                <a:spcPts val="10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3175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Manage</a:t>
            </a:r>
            <a:r>
              <a:rPr spc="-80"/>
              <a:t> </a:t>
            </a:r>
            <a:r>
              <a:t>leave</a:t>
            </a:r>
            <a:r>
              <a:rPr spc="-90"/>
              <a:t> </a:t>
            </a:r>
            <a:r>
              <a:rPr spc="-10"/>
              <a:t>records</a:t>
            </a:r>
          </a:p>
          <a:p>
            <a:pPr marL="324484" indent="-286384">
              <a:spcBef>
                <a:spcPts val="9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3175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</a:t>
            </a:r>
            <a:r>
              <a:rPr spc="-104"/>
              <a:t> </a:t>
            </a:r>
            <a:r>
              <a:t>payroll</a:t>
            </a:r>
            <a:r>
              <a:rPr spc="-104"/>
              <a:t> </a:t>
            </a:r>
            <a:r>
              <a:rPr spc="-10"/>
              <a:t>information</a:t>
            </a:r>
          </a:p>
          <a:p>
            <a:pPr marL="324484" indent="-286384">
              <a:spcBef>
                <a:spcPts val="9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317500" algn="l"/>
              </a:tabLst>
              <a:defRPr sz="1600" spc="-1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Calculate</a:t>
            </a:r>
            <a:r>
              <a:rPr spc="-60"/>
              <a:t> </a:t>
            </a:r>
            <a:r>
              <a:rPr spc="0"/>
              <a:t>/</a:t>
            </a:r>
            <a:r>
              <a:rPr spc="-70"/>
              <a:t> </a:t>
            </a:r>
            <a:r>
              <a:rPr spc="0"/>
              <a:t>manage</a:t>
            </a:r>
            <a:r>
              <a:rPr spc="-75"/>
              <a:t> </a:t>
            </a:r>
            <a:r>
              <a:rPr spc="0"/>
              <a:t>salary</a:t>
            </a:r>
            <a:r>
              <a:rPr spc="-60"/>
              <a:t> </a:t>
            </a:r>
            <a:r>
              <a:t>components</a:t>
            </a:r>
          </a:p>
        </p:txBody>
      </p:sp>
      <p:sp>
        <p:nvSpPr>
          <p:cNvPr id="111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083290" y="6387315"/>
            <a:ext cx="263972" cy="4318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 2"/>
          <p:cNvSpPr txBox="1">
            <a:spLocks noGrp="1"/>
          </p:cNvSpPr>
          <p:nvPr>
            <p:ph type="title"/>
          </p:nvPr>
        </p:nvSpPr>
        <p:spPr>
          <a:xfrm>
            <a:off x="2080118" y="1149957"/>
            <a:ext cx="9225281" cy="570208"/>
          </a:xfrm>
          <a:prstGeom prst="rect">
            <a:avLst/>
          </a:prstGeom>
        </p:spPr>
        <p:txBody>
          <a:bodyPr/>
          <a:lstStyle/>
          <a:p>
            <a:pPr indent="560069">
              <a:spcBef>
                <a:spcPts val="1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</a:t>
            </a:r>
            <a:r>
              <a:rPr spc="200"/>
              <a:t> </a:t>
            </a:r>
            <a:r>
              <a:rPr spc="-100"/>
              <a:t>FUNCTIONAL REQUIREMENTSAND</a:t>
            </a:r>
            <a:r>
              <a:rPr spc="400"/>
              <a:t> </a:t>
            </a:r>
            <a:r>
              <a:t>END</a:t>
            </a:r>
            <a:r>
              <a:rPr spc="-200"/>
              <a:t> </a:t>
            </a:r>
            <a:r>
              <a:rPr spc="-100"/>
              <a:t>USERS</a:t>
            </a:r>
          </a:p>
        </p:txBody>
      </p:sp>
      <p:sp>
        <p:nvSpPr>
          <p:cNvPr id="114" name="object 6"/>
          <p:cNvSpPr txBox="1"/>
          <p:nvPr/>
        </p:nvSpPr>
        <p:spPr>
          <a:xfrm>
            <a:off x="1390213" y="1824683"/>
            <a:ext cx="9045576" cy="2936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tabLst>
                <a:tab pos="609600" algn="l"/>
                <a:tab pos="1892300" algn="l"/>
              </a:tabLst>
              <a:defRPr spc="-28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Non </a:t>
            </a:r>
            <a:r>
              <a:rPr spc="-11"/>
              <a:t>Functional </a:t>
            </a:r>
            <a:r>
              <a:rPr spc="0"/>
              <a:t>Requirements</a:t>
            </a:r>
            <a:r>
              <a:rPr spc="73"/>
              <a:t> </a:t>
            </a:r>
            <a:r>
              <a:rPr spc="-56"/>
              <a:t>:</a:t>
            </a:r>
          </a:p>
          <a:p>
            <a:pPr indent="12700">
              <a:spcBef>
                <a:spcPts val="100"/>
              </a:spcBef>
              <a:tabLst>
                <a:tab pos="609600" algn="l"/>
                <a:tab pos="18923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56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Accuracy –             Payroll information should be correct and accurate.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Security –               Employee and salary information should be protected from unauthorized access.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Reliability –           The system should work consistently without failures.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Performance –        Information should be retrieved efficiently.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Usability –             The system should be easy to use and understand.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Integrity –      Records should remain accurate and consistent.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Maintainability –   The database should be easy to maintain and update. </a:t>
            </a:r>
          </a:p>
        </p:txBody>
      </p:sp>
      <p:sp>
        <p:nvSpPr>
          <p:cNvPr id="115" name="object 3"/>
          <p:cNvSpPr txBox="1"/>
          <p:nvPr/>
        </p:nvSpPr>
        <p:spPr>
          <a:xfrm>
            <a:off x="1427374" y="5029417"/>
            <a:ext cx="1226821" cy="25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End</a:t>
            </a:r>
            <a:r>
              <a:rPr spc="33"/>
              <a:t>  </a:t>
            </a:r>
            <a:r>
              <a:rPr spc="-50"/>
              <a:t>Users</a:t>
            </a:r>
            <a:r>
              <a:rPr spc="-191"/>
              <a:t> </a:t>
            </a:r>
            <a:r>
              <a:rPr spc="-56"/>
              <a:t>:</a:t>
            </a:r>
          </a:p>
        </p:txBody>
      </p:sp>
      <p:sp>
        <p:nvSpPr>
          <p:cNvPr id="116" name="object 4"/>
          <p:cNvSpPr txBox="1"/>
          <p:nvPr/>
        </p:nvSpPr>
        <p:spPr>
          <a:xfrm>
            <a:off x="2864998" y="5029417"/>
            <a:ext cx="2087879" cy="1068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54200"/>
              </a:lnSpc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HR/</a:t>
            </a:r>
            <a:r>
              <a:rPr spc="-225"/>
              <a:t> </a:t>
            </a:r>
            <a:r>
              <a:t>Administrator </a:t>
            </a:r>
            <a:r>
              <a:rPr spc="-45"/>
              <a:t>Payroll/</a:t>
            </a:r>
            <a:r>
              <a:rPr spc="-241"/>
              <a:t> </a:t>
            </a:r>
            <a:r>
              <a:rPr spc="0"/>
              <a:t>Accounts</a:t>
            </a:r>
            <a:r>
              <a:rPr spc="-67"/>
              <a:t> </a:t>
            </a:r>
            <a:r>
              <a:rPr spc="-39"/>
              <a:t>Staff </a:t>
            </a:r>
            <a:r>
              <a:t>Management</a:t>
            </a:r>
          </a:p>
        </p:txBody>
      </p:sp>
      <p:sp>
        <p:nvSpPr>
          <p:cNvPr id="117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1083290" y="6387315"/>
            <a:ext cx="171451" cy="21996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bject 2"/>
          <p:cNvSpPr txBox="1">
            <a:spLocks noGrp="1"/>
          </p:cNvSpPr>
          <p:nvPr>
            <p:ph type="title"/>
          </p:nvPr>
        </p:nvSpPr>
        <p:spPr>
          <a:xfrm>
            <a:off x="2184770" y="1424670"/>
            <a:ext cx="7325360" cy="650229"/>
          </a:xfrm>
          <a:prstGeom prst="rect">
            <a:avLst/>
          </a:prstGeom>
        </p:spPr>
        <p:txBody>
          <a:bodyPr/>
          <a:lstStyle/>
          <a:p>
            <a:pPr indent="2618104">
              <a:spcBef>
                <a:spcPts val="100"/>
              </a:spcBef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ER</a:t>
            </a:r>
            <a:r>
              <a:rPr spc="-400"/>
              <a:t> </a:t>
            </a:r>
            <a:r>
              <a:t>DESIGN</a:t>
            </a:r>
            <a:r>
              <a:rPr spc="-200"/>
              <a:t> </a:t>
            </a:r>
            <a:r>
              <a:t>OVERVIEW</a:t>
            </a:r>
          </a:p>
        </p:txBody>
      </p:sp>
      <p:sp>
        <p:nvSpPr>
          <p:cNvPr id="120" name="object 3"/>
          <p:cNvSpPr txBox="1"/>
          <p:nvPr/>
        </p:nvSpPr>
        <p:spPr>
          <a:xfrm>
            <a:off x="1557654" y="2246979"/>
            <a:ext cx="9718041" cy="2796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68580"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</a:t>
            </a:r>
            <a:r>
              <a:rPr spc="-16"/>
              <a:t> </a:t>
            </a:r>
            <a:r>
              <a:t>entity</a:t>
            </a:r>
            <a:r>
              <a:rPr spc="-22"/>
              <a:t> </a:t>
            </a:r>
            <a:r>
              <a:t>is</a:t>
            </a:r>
            <a:r>
              <a:rPr spc="-22"/>
              <a:t> </a:t>
            </a:r>
            <a:r>
              <a:t>a</a:t>
            </a:r>
            <a:r>
              <a:rPr spc="-11"/>
              <a:t> </a:t>
            </a:r>
            <a:r>
              <a:t>real</a:t>
            </a:r>
            <a:r>
              <a:rPr spc="-33"/>
              <a:t> </a:t>
            </a:r>
            <a:r>
              <a:t>world</a:t>
            </a:r>
            <a:r>
              <a:rPr spc="-33"/>
              <a:t> </a:t>
            </a:r>
            <a:r>
              <a:t>object</a:t>
            </a:r>
            <a:r>
              <a:rPr spc="-45"/>
              <a:t> </a:t>
            </a:r>
            <a:r>
              <a:t>about</a:t>
            </a:r>
            <a:r>
              <a:rPr spc="-33"/>
              <a:t> </a:t>
            </a:r>
            <a:r>
              <a:t>which</a:t>
            </a:r>
            <a:r>
              <a:rPr spc="-33"/>
              <a:t> </a:t>
            </a:r>
            <a:r>
              <a:t>we</a:t>
            </a:r>
            <a:r>
              <a:rPr spc="-28"/>
              <a:t> </a:t>
            </a:r>
            <a:r>
              <a:t>want</a:t>
            </a:r>
            <a:r>
              <a:rPr spc="-33"/>
              <a:t> </a:t>
            </a:r>
            <a:r>
              <a:t>to</a:t>
            </a:r>
            <a:r>
              <a:rPr spc="-39"/>
              <a:t> </a:t>
            </a:r>
            <a:r>
              <a:t>store</a:t>
            </a:r>
            <a:r>
              <a:rPr spc="-39"/>
              <a:t> </a:t>
            </a:r>
            <a:r>
              <a:t>information</a:t>
            </a:r>
            <a:r>
              <a:rPr spc="-50"/>
              <a:t> </a:t>
            </a:r>
            <a:r>
              <a:t>in</a:t>
            </a:r>
            <a:r>
              <a:rPr spc="-22"/>
              <a:t> </a:t>
            </a:r>
            <a:r>
              <a:t>a</a:t>
            </a:r>
            <a:r>
              <a:rPr spc="-33"/>
              <a:t> </a:t>
            </a:r>
            <a:r>
              <a:rPr spc="-11"/>
              <a:t>database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pc="-11"/>
          </a:p>
          <a:p>
            <a:pPr indent="12700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MAIN</a:t>
            </a:r>
            <a:r>
              <a:rPr spc="61"/>
              <a:t> </a:t>
            </a:r>
            <a:r>
              <a:rPr spc="-11"/>
              <a:t>ENTITIES</a:t>
            </a:r>
          </a:p>
          <a:p>
            <a:pPr indent="1516380"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Our</a:t>
            </a:r>
            <a:r>
              <a:rPr spc="-95"/>
              <a:t> </a:t>
            </a:r>
            <a:r>
              <a:t>ER</a:t>
            </a:r>
            <a:r>
              <a:rPr spc="-67"/>
              <a:t> </a:t>
            </a:r>
            <a:r>
              <a:t>diagram</a:t>
            </a:r>
            <a:r>
              <a:rPr spc="-50"/>
              <a:t> </a:t>
            </a:r>
            <a:r>
              <a:rPr spc="-11"/>
              <a:t>contains: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Departments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Employees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Attendance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Leaves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1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Payrolls</a:t>
            </a:r>
          </a:p>
          <a:p>
            <a:pPr marL="1803400" indent="-287019">
              <a:buSzPct val="100000"/>
              <a:buChar char="•"/>
              <a:tabLst>
                <a:tab pos="1803400" algn="l"/>
              </a:tabLst>
              <a:defRPr spc="-22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Jobs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object 2"/>
          <p:cNvSpPr/>
          <p:nvPr/>
        </p:nvSpPr>
        <p:spPr>
          <a:xfrm>
            <a:off x="3868292" y="264413"/>
            <a:ext cx="12701" cy="1"/>
          </a:xfrm>
          <a:prstGeom prst="line">
            <a:avLst/>
          </a:prstGeom>
          <a:ln w="3175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object 3"/>
          <p:cNvSpPr txBox="1">
            <a:spLocks noGrp="1"/>
          </p:cNvSpPr>
          <p:nvPr>
            <p:ph type="title"/>
          </p:nvPr>
        </p:nvSpPr>
        <p:spPr>
          <a:xfrm>
            <a:off x="3771639" y="863240"/>
            <a:ext cx="6384546" cy="412935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ENTITIES,</a:t>
            </a:r>
            <a:r>
              <a:rPr spc="-400"/>
              <a:t> </a:t>
            </a:r>
            <a:r>
              <a:t>ATTRIBUTES</a:t>
            </a:r>
            <a:r>
              <a:rPr spc="-400"/>
              <a:t> </a:t>
            </a:r>
            <a:r>
              <a:rPr spc="0"/>
              <a:t>&amp;</a:t>
            </a:r>
            <a:r>
              <a:t> </a:t>
            </a:r>
            <a:r>
              <a:rPr spc="-100"/>
              <a:t>PRIMARY KEYS</a:t>
            </a:r>
          </a:p>
        </p:txBody>
      </p:sp>
      <p:graphicFrame>
        <p:nvGraphicFramePr>
          <p:cNvPr id="124" name="object 4"/>
          <p:cNvGraphicFramePr/>
          <p:nvPr/>
        </p:nvGraphicFramePr>
        <p:xfrm>
          <a:off x="836978" y="1560591"/>
          <a:ext cx="10775951" cy="464502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46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marR="264795" indent="0" algn="ctr">
                        <a:spcBef>
                          <a:spcPts val="1400"/>
                        </a:spcBef>
                        <a:defRPr sz="1800" spc="0"/>
                      </a:pPr>
                      <a:r>
                        <a:rPr sz="1600" spc="-1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Entity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marR="405129" indent="0" algn="ctr">
                        <a:spcBef>
                          <a:spcPts val="1300"/>
                        </a:spcBef>
                        <a:defRPr sz="1800" spc="0"/>
                      </a:pPr>
                      <a:r>
                        <a:rPr sz="1600" spc="-1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AACC5"/>
                    </a:solidFill>
                  </a:tcPr>
                </a:tc>
                <a:tc>
                  <a:txBody>
                    <a:bodyPr/>
                    <a:lstStyle/>
                    <a:p>
                      <a:pPr indent="741044">
                        <a:spcBef>
                          <a:spcPts val="1400"/>
                        </a:spcBef>
                        <a:defRPr sz="1600" spc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Primary</a:t>
                      </a:r>
                      <a:r>
                        <a:rPr spc="-20"/>
                        <a:t> </a:t>
                      </a:r>
                      <a:r>
                        <a:rPr spc="-25"/>
                        <a:t>key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rgbClr val="4AAC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16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571500" marR="993775" indent="-571500" algn="ctr">
                        <a:spcBef>
                          <a:spcPts val="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DepartmentID,Department Name,Location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0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13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906780" marR="653415" indent="-906780" algn="ctr">
                        <a:spcBef>
                          <a:spcPts val="2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EmployeeID,employee,phone Name,Email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0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10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Attendence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R="34925" indent="0" algn="ctr">
                        <a:spcBef>
                          <a:spcPts val="30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AttendenceID,</a:t>
                      </a:r>
                      <a:r>
                        <a:rPr spc="-35"/>
                        <a:t> </a:t>
                      </a:r>
                      <a:r>
                        <a:rPr spc="-10"/>
                        <a:t>Attendence</a:t>
                      </a:r>
                    </a:p>
                    <a:p>
                      <a:pPr marR="36830" indent="0" algn="ctr">
                        <a:spcBef>
                          <a:spcPts val="0"/>
                        </a:spcBef>
                        <a:def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Date,CheckIn,Checkout,status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2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AttendenceID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13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Leaves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335915" marR="431165" indent="-335915" algn="ctr">
                        <a:spcBef>
                          <a:spcPts val="6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LeaveID,LeaveType,LeaveStatus, Reason,StartDate,EndDate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3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LeaveID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9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Payrolls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433069" marR="316865" indent="-154939" algn="ctr"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Payroll</a:t>
                      </a:r>
                      <a:r>
                        <a:rPr spc="-30"/>
                        <a:t> </a:t>
                      </a:r>
                      <a:r>
                        <a:rPr spc="-10"/>
                        <a:t>ID,SalaryMonth,BasicSalary, Bonus,Deduction,NetSalary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1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PayrollID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indent="0" algn="ctr">
                        <a:spcBef>
                          <a:spcPts val="700"/>
                        </a:spcBef>
                        <a:defRPr sz="1800" spc="0"/>
                      </a:pPr>
                      <a:r>
                        <a:rPr sz="1600" spc="-2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Jobs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marL="681355" marR="868680" indent="83184" algn="ctr">
                        <a:spcBef>
                          <a:spcPts val="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Job</a:t>
                      </a:r>
                      <a:r>
                        <a:rPr spc="-25"/>
                        <a:t> </a:t>
                      </a:r>
                      <a:r>
                        <a:t>Title</a:t>
                      </a:r>
                      <a:r>
                        <a:rPr spc="-30"/>
                        <a:t> </a:t>
                      </a:r>
                      <a:r>
                        <a:t>,Job</a:t>
                      </a:r>
                      <a:r>
                        <a:rPr spc="-25"/>
                        <a:t> </a:t>
                      </a:r>
                      <a:r>
                        <a:rPr spc="-10"/>
                        <a:t>Description, </a:t>
                      </a:r>
                      <a:r>
                        <a:t>Basic</a:t>
                      </a:r>
                      <a:r>
                        <a:rPr spc="-45"/>
                        <a:t> </a:t>
                      </a:r>
                      <a:r>
                        <a:rPr spc="-10"/>
                        <a:t>Salary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10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JobID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2"/>
          <p:cNvSpPr txBox="1">
            <a:spLocks noGrp="1"/>
          </p:cNvSpPr>
          <p:nvPr>
            <p:ph type="title"/>
          </p:nvPr>
        </p:nvSpPr>
        <p:spPr>
          <a:xfrm>
            <a:off x="2168779" y="1113789"/>
            <a:ext cx="1642111" cy="259046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1600"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Relationship</a:t>
            </a:r>
          </a:p>
        </p:txBody>
      </p:sp>
      <p:sp>
        <p:nvSpPr>
          <p:cNvPr id="127" name="object 3"/>
          <p:cNvSpPr txBox="1"/>
          <p:nvPr/>
        </p:nvSpPr>
        <p:spPr>
          <a:xfrm>
            <a:off x="6337553" y="1129867"/>
            <a:ext cx="1440816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600" spc="-1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Cardinality</a:t>
            </a:r>
          </a:p>
        </p:txBody>
      </p:sp>
      <p:sp>
        <p:nvSpPr>
          <p:cNvPr id="128" name="object 8"/>
          <p:cNvSpPr txBox="1"/>
          <p:nvPr/>
        </p:nvSpPr>
        <p:spPr>
          <a:xfrm>
            <a:off x="1586610" y="2190368"/>
            <a:ext cx="3372486" cy="219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Departments</a:t>
            </a:r>
            <a:r>
              <a:rPr spc="-90"/>
              <a:t> </a:t>
            </a:r>
            <a:r>
              <a:t>HAS</a:t>
            </a:r>
            <a:r>
              <a:rPr spc="-40"/>
              <a:t> </a:t>
            </a:r>
            <a:r>
              <a:rPr spc="-10"/>
              <a:t>employees</a:t>
            </a:r>
          </a:p>
        </p:txBody>
      </p:sp>
      <p:sp>
        <p:nvSpPr>
          <p:cNvPr id="129" name="object 4"/>
          <p:cNvSpPr txBox="1"/>
          <p:nvPr/>
        </p:nvSpPr>
        <p:spPr>
          <a:xfrm>
            <a:off x="6791324" y="2162809"/>
            <a:ext cx="539117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 b="1" spc="-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</a:t>
            </a:r>
            <a:r>
              <a:rPr spc="-250"/>
              <a:t> </a:t>
            </a:r>
            <a:r>
              <a:rPr spc="0"/>
              <a:t>:</a:t>
            </a:r>
            <a:r>
              <a:rPr spc="-170"/>
              <a:t> </a:t>
            </a:r>
            <a:r>
              <a:rPr spc="-50"/>
              <a:t>M</a:t>
            </a:r>
          </a:p>
        </p:txBody>
      </p:sp>
      <p:sp>
        <p:nvSpPr>
          <p:cNvPr id="130" name="object 9"/>
          <p:cNvSpPr txBox="1"/>
          <p:nvPr/>
        </p:nvSpPr>
        <p:spPr>
          <a:xfrm>
            <a:off x="1564893" y="2906647"/>
            <a:ext cx="3982722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Employees</a:t>
            </a:r>
            <a:r>
              <a:rPr spc="-40"/>
              <a:t> </a:t>
            </a:r>
            <a:r>
              <a:t>RECORDS</a:t>
            </a:r>
            <a:r>
              <a:rPr spc="-50"/>
              <a:t> </a:t>
            </a:r>
            <a:r>
              <a:rPr spc="-10"/>
              <a:t>Attendence</a:t>
            </a:r>
          </a:p>
        </p:txBody>
      </p:sp>
      <p:sp>
        <p:nvSpPr>
          <p:cNvPr id="131" name="object 5"/>
          <p:cNvSpPr txBox="1"/>
          <p:nvPr/>
        </p:nvSpPr>
        <p:spPr>
          <a:xfrm>
            <a:off x="6813294" y="2859658"/>
            <a:ext cx="539116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 b="1" spc="-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</a:t>
            </a:r>
            <a:r>
              <a:rPr spc="-250"/>
              <a:t> </a:t>
            </a:r>
            <a:r>
              <a:rPr spc="0"/>
              <a:t>:</a:t>
            </a:r>
            <a:r>
              <a:rPr spc="-170"/>
              <a:t> </a:t>
            </a:r>
            <a:r>
              <a:rPr spc="-50"/>
              <a:t>M</a:t>
            </a:r>
          </a:p>
        </p:txBody>
      </p:sp>
      <p:sp>
        <p:nvSpPr>
          <p:cNvPr id="132" name="object 10"/>
          <p:cNvSpPr txBox="1"/>
          <p:nvPr/>
        </p:nvSpPr>
        <p:spPr>
          <a:xfrm>
            <a:off x="1564893" y="3557905"/>
            <a:ext cx="3909061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Employees</a:t>
            </a:r>
            <a:r>
              <a:rPr spc="-45"/>
              <a:t> </a:t>
            </a:r>
            <a:r>
              <a:t>APPLIES</a:t>
            </a:r>
            <a:r>
              <a:rPr spc="-25"/>
              <a:t> </a:t>
            </a:r>
            <a:r>
              <a:t>FOR</a:t>
            </a:r>
            <a:r>
              <a:rPr spc="-55"/>
              <a:t> </a:t>
            </a:r>
            <a:r>
              <a:rPr spc="-10"/>
              <a:t>Leaves</a:t>
            </a:r>
          </a:p>
        </p:txBody>
      </p:sp>
      <p:sp>
        <p:nvSpPr>
          <p:cNvPr id="133" name="object 6"/>
          <p:cNvSpPr txBox="1"/>
          <p:nvPr/>
        </p:nvSpPr>
        <p:spPr>
          <a:xfrm>
            <a:off x="6791324" y="3580765"/>
            <a:ext cx="539117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 b="1" spc="-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</a:t>
            </a:r>
            <a:r>
              <a:rPr spc="-250"/>
              <a:t> </a:t>
            </a:r>
            <a:r>
              <a:rPr spc="0"/>
              <a:t>:</a:t>
            </a:r>
            <a:r>
              <a:rPr spc="-170"/>
              <a:t> </a:t>
            </a:r>
            <a:r>
              <a:rPr spc="-50"/>
              <a:t>M</a:t>
            </a:r>
          </a:p>
        </p:txBody>
      </p:sp>
      <p:sp>
        <p:nvSpPr>
          <p:cNvPr id="134" name="object 11"/>
          <p:cNvSpPr txBox="1"/>
          <p:nvPr/>
        </p:nvSpPr>
        <p:spPr>
          <a:xfrm>
            <a:off x="1564893" y="4268164"/>
            <a:ext cx="4533267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Employees</a:t>
            </a:r>
            <a:r>
              <a:rPr spc="-40"/>
              <a:t> </a:t>
            </a:r>
            <a:r>
              <a:t>PROCESSED</a:t>
            </a:r>
            <a:r>
              <a:rPr spc="-30"/>
              <a:t> </a:t>
            </a:r>
            <a:r>
              <a:t>FOR</a:t>
            </a:r>
            <a:r>
              <a:rPr spc="-45"/>
              <a:t> </a:t>
            </a:r>
            <a:r>
              <a:rPr spc="-10"/>
              <a:t>Payrolls</a:t>
            </a:r>
          </a:p>
        </p:txBody>
      </p:sp>
      <p:sp>
        <p:nvSpPr>
          <p:cNvPr id="135" name="object 7"/>
          <p:cNvSpPr txBox="1"/>
          <p:nvPr/>
        </p:nvSpPr>
        <p:spPr>
          <a:xfrm>
            <a:off x="6780021" y="4291329"/>
            <a:ext cx="539116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 b="1" spc="-2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</a:t>
            </a:r>
            <a:r>
              <a:rPr spc="-250"/>
              <a:t> </a:t>
            </a:r>
            <a:r>
              <a:rPr spc="0"/>
              <a:t>:</a:t>
            </a:r>
            <a:r>
              <a:rPr spc="-170"/>
              <a:t> </a:t>
            </a:r>
            <a:r>
              <a:rPr spc="-50"/>
              <a:t>M</a:t>
            </a:r>
          </a:p>
        </p:txBody>
      </p:sp>
      <p:sp>
        <p:nvSpPr>
          <p:cNvPr id="136" name="object 12"/>
          <p:cNvSpPr txBox="1"/>
          <p:nvPr/>
        </p:nvSpPr>
        <p:spPr>
          <a:xfrm>
            <a:off x="1586610" y="4953076"/>
            <a:ext cx="2484757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Employees</a:t>
            </a:r>
            <a:r>
              <a:rPr spc="-25"/>
              <a:t> </a:t>
            </a:r>
            <a:r>
              <a:t>HAS</a:t>
            </a:r>
            <a:r>
              <a:rPr spc="-25"/>
              <a:t> </a:t>
            </a:r>
            <a:r>
              <a:rPr spc="-20"/>
              <a:t>Jobs</a:t>
            </a:r>
          </a:p>
        </p:txBody>
      </p:sp>
      <p:sp>
        <p:nvSpPr>
          <p:cNvPr id="137" name="object 13"/>
          <p:cNvSpPr txBox="1"/>
          <p:nvPr/>
        </p:nvSpPr>
        <p:spPr>
          <a:xfrm>
            <a:off x="6780021" y="4928056"/>
            <a:ext cx="566421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</a:t>
            </a:r>
            <a:r>
              <a:rPr spc="-60"/>
              <a:t> </a:t>
            </a:r>
            <a:r>
              <a:t>:</a:t>
            </a:r>
            <a:r>
              <a:rPr spc="-175"/>
              <a:t> </a:t>
            </a:r>
            <a:r>
              <a:rPr spc="-50"/>
              <a:t>1</a:t>
            </a:r>
          </a:p>
        </p:txBody>
      </p:sp>
      <p:sp>
        <p:nvSpPr>
          <p:cNvPr id="138" name="object 17"/>
          <p:cNvSpPr txBox="1"/>
          <p:nvPr/>
        </p:nvSpPr>
        <p:spPr>
          <a:xfrm>
            <a:off x="10905869" y="6385055"/>
            <a:ext cx="406401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z="1600" spc="-25">
                <a:solidFill>
                  <a:srgbClr val="4766A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2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523143"/>
          </a:xfrm>
          <a:prstGeom prst="rect">
            <a:avLst/>
          </a:prstGeom>
        </p:spPr>
        <p:txBody>
          <a:bodyPr/>
          <a:lstStyle/>
          <a:p>
            <a:pPr indent="2846704">
              <a:spcBef>
                <a:spcPts val="1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SCHEMA</a:t>
            </a:r>
            <a:r>
              <a:rPr spc="-100"/>
              <a:t> MODEL</a:t>
            </a:r>
          </a:p>
        </p:txBody>
      </p:sp>
      <p:sp>
        <p:nvSpPr>
          <p:cNvPr id="141" name="object 3"/>
          <p:cNvSpPr txBox="1"/>
          <p:nvPr/>
        </p:nvSpPr>
        <p:spPr>
          <a:xfrm>
            <a:off x="6360033" y="2539619"/>
            <a:ext cx="1524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</a:t>
            </a:r>
          </a:p>
        </p:txBody>
      </p:sp>
      <p:sp>
        <p:nvSpPr>
          <p:cNvPr id="142" name="object 4"/>
          <p:cNvSpPr txBox="1"/>
          <p:nvPr/>
        </p:nvSpPr>
        <p:spPr>
          <a:xfrm>
            <a:off x="3162044" y="4302252"/>
            <a:ext cx="1524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</a:t>
            </a:r>
          </a:p>
        </p:txBody>
      </p:sp>
      <p:sp>
        <p:nvSpPr>
          <p:cNvPr id="143" name="object 5"/>
          <p:cNvSpPr txBox="1"/>
          <p:nvPr/>
        </p:nvSpPr>
        <p:spPr>
          <a:xfrm>
            <a:off x="6339585" y="4293996"/>
            <a:ext cx="1524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</a:t>
            </a:r>
          </a:p>
        </p:txBody>
      </p:sp>
      <p:sp>
        <p:nvSpPr>
          <p:cNvPr id="144" name="object 6"/>
          <p:cNvSpPr txBox="1"/>
          <p:nvPr/>
        </p:nvSpPr>
        <p:spPr>
          <a:xfrm>
            <a:off x="9528809" y="4312920"/>
            <a:ext cx="1524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</a:t>
            </a:r>
          </a:p>
        </p:txBody>
      </p:sp>
      <p:pic>
        <p:nvPicPr>
          <p:cNvPr id="145" name="object 7" descr="objec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019" y="1447760"/>
            <a:ext cx="7866382" cy="4143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2"/>
          <p:cNvSpPr txBox="1">
            <a:spLocks noGrp="1"/>
          </p:cNvSpPr>
          <p:nvPr>
            <p:ph type="title"/>
          </p:nvPr>
        </p:nvSpPr>
        <p:spPr>
          <a:xfrm>
            <a:off x="3048379" y="845566"/>
            <a:ext cx="8534022" cy="412293"/>
          </a:xfrm>
          <a:prstGeom prst="rect">
            <a:avLst/>
          </a:prstGeom>
        </p:spPr>
        <p:txBody>
          <a:bodyPr/>
          <a:lstStyle/>
          <a:p>
            <a:pPr indent="12700"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JUSTIFICATION</a:t>
            </a:r>
            <a:r>
              <a:rPr spc="-200"/>
              <a:t> </a:t>
            </a:r>
            <a:r>
              <a:rPr spc="0"/>
              <a:t>OF</a:t>
            </a:r>
            <a:r>
              <a:rPr spc="400"/>
              <a:t> </a:t>
            </a:r>
            <a:r>
              <a:rPr spc="-200"/>
              <a:t>ENTITIES</a:t>
            </a:r>
            <a:r>
              <a:rPr spc="-400"/>
              <a:t> </a:t>
            </a:r>
            <a:r>
              <a:rPr spc="0"/>
              <a:t>AND</a:t>
            </a:r>
            <a:r>
              <a:rPr spc="500"/>
              <a:t> </a:t>
            </a:r>
            <a:r>
              <a:t>RELATIONSHIPS</a:t>
            </a:r>
          </a:p>
        </p:txBody>
      </p:sp>
      <p:sp>
        <p:nvSpPr>
          <p:cNvPr id="148" name="object 3"/>
          <p:cNvSpPr txBox="1"/>
          <p:nvPr/>
        </p:nvSpPr>
        <p:spPr>
          <a:xfrm>
            <a:off x="794714" y="1378964"/>
            <a:ext cx="2966087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</a:t>
            </a:r>
            <a:r>
              <a:rPr spc="20"/>
              <a:t>  </a:t>
            </a:r>
            <a:r>
              <a:t>are</a:t>
            </a:r>
            <a:r>
              <a:rPr spc="160"/>
              <a:t> </a:t>
            </a:r>
            <a:r>
              <a:t>Entities</a:t>
            </a:r>
            <a:r>
              <a:rPr spc="-50"/>
              <a:t> </a:t>
            </a:r>
            <a:r>
              <a:rPr spc="45"/>
              <a:t>included</a:t>
            </a:r>
            <a:r>
              <a:rPr spc="370"/>
              <a:t> </a:t>
            </a:r>
            <a:r>
              <a:rPr spc="-50"/>
              <a:t>?</a:t>
            </a:r>
          </a:p>
        </p:txBody>
      </p:sp>
      <p:sp>
        <p:nvSpPr>
          <p:cNvPr id="149" name="object 6"/>
          <p:cNvSpPr txBox="1"/>
          <p:nvPr/>
        </p:nvSpPr>
        <p:spPr>
          <a:xfrm>
            <a:off x="869391" y="3983828"/>
            <a:ext cx="8515351" cy="893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9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</a:t>
            </a:r>
            <a:r>
              <a:rPr spc="55"/>
              <a:t>  </a:t>
            </a:r>
            <a:r>
              <a:t>are</a:t>
            </a:r>
            <a:r>
              <a:rPr spc="305"/>
              <a:t> </a:t>
            </a:r>
            <a:r>
              <a:t>Relations</a:t>
            </a:r>
            <a:r>
              <a:rPr spc="165"/>
              <a:t> </a:t>
            </a:r>
            <a:r>
              <a:t>Included</a:t>
            </a:r>
            <a:r>
              <a:rPr spc="360"/>
              <a:t> </a:t>
            </a:r>
            <a:r>
              <a:rPr spc="-50"/>
              <a:t>?</a:t>
            </a:r>
          </a:p>
          <a:p>
            <a:pPr marL="1266825" indent="-286385">
              <a:spcBef>
                <a:spcPts val="7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1257300" algn="l"/>
                <a:tab pos="37084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</a:t>
            </a:r>
            <a:r>
              <a:rPr spc="-35"/>
              <a:t> </a:t>
            </a:r>
            <a:r>
              <a:t>–</a:t>
            </a:r>
            <a:r>
              <a:rPr spc="-30"/>
              <a:t> </a:t>
            </a:r>
            <a:r>
              <a:rPr spc="-10"/>
              <a:t>Employee</a:t>
            </a:r>
            <a:r>
              <a:t>	  →</a:t>
            </a:r>
            <a:r>
              <a:rPr spc="65"/>
              <a:t> </a:t>
            </a:r>
            <a:r>
              <a:rPr spc="45"/>
              <a:t>connects</a:t>
            </a:r>
            <a:r>
              <a:rPr spc="494"/>
              <a:t> </a:t>
            </a:r>
            <a:r>
              <a:t>employees</a:t>
            </a:r>
            <a:r>
              <a:rPr spc="425"/>
              <a:t> </a:t>
            </a:r>
            <a:r>
              <a:t>to</a:t>
            </a:r>
            <a:r>
              <a:rPr spc="170"/>
              <a:t> </a:t>
            </a:r>
            <a:r>
              <a:t>their</a:t>
            </a:r>
            <a:r>
              <a:rPr spc="40"/>
              <a:t> </a:t>
            </a:r>
            <a:r>
              <a:rPr spc="-10"/>
              <a:t>department.</a:t>
            </a:r>
          </a:p>
          <a:p>
            <a:pPr marL="1322705" indent="-342265">
              <a:spcBef>
                <a:spcPts val="1000"/>
              </a:spcBef>
              <a:buClr>
                <a:srgbClr val="4766AC"/>
              </a:buClr>
              <a:buSzPct val="100000"/>
              <a:buFont typeface="Arial"/>
              <a:buChar char="•"/>
              <a:tabLst>
                <a:tab pos="1320800" algn="l"/>
              </a:tabLst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</a:t>
            </a:r>
            <a:r>
              <a:rPr spc="-25"/>
              <a:t> </a:t>
            </a:r>
            <a:r>
              <a:t>-</a:t>
            </a:r>
            <a:r>
              <a:rPr spc="-15"/>
              <a:t> </a:t>
            </a:r>
            <a:r>
              <a:t>Attendance</a:t>
            </a:r>
            <a:r>
              <a:rPr spc="430"/>
              <a:t>     </a:t>
            </a:r>
            <a:r>
              <a:t>→</a:t>
            </a:r>
            <a:r>
              <a:rPr spc="100"/>
              <a:t> </a:t>
            </a:r>
            <a:r>
              <a:rPr spc="45"/>
              <a:t>connects</a:t>
            </a:r>
            <a:r>
              <a:rPr spc="-10"/>
              <a:t>  </a:t>
            </a:r>
            <a:r>
              <a:t>employees</a:t>
            </a:r>
            <a:r>
              <a:rPr spc="450"/>
              <a:t> </a:t>
            </a:r>
            <a:r>
              <a:t>to</a:t>
            </a:r>
            <a:r>
              <a:rPr spc="185"/>
              <a:t> </a:t>
            </a:r>
            <a:r>
              <a:rPr spc="75"/>
              <a:t>attendance</a:t>
            </a:r>
            <a:r>
              <a:rPr spc="30"/>
              <a:t>  </a:t>
            </a:r>
            <a:r>
              <a:rPr spc="-10"/>
              <a:t>records.</a:t>
            </a:r>
          </a:p>
        </p:txBody>
      </p:sp>
      <p:graphicFrame>
        <p:nvGraphicFramePr>
          <p:cNvPr id="150" name="object 7"/>
          <p:cNvGraphicFramePr/>
          <p:nvPr/>
        </p:nvGraphicFramePr>
        <p:xfrm>
          <a:off x="1818132" y="5128102"/>
          <a:ext cx="7012304" cy="64833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40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marL="318134" indent="-286384">
                        <a:spcBef>
                          <a:spcPts val="0"/>
                        </a:spcBef>
                        <a:buClr>
                          <a:srgbClr val="4766AC"/>
                        </a:buClr>
                        <a:buSzPct val="100000"/>
                        <a:buFont typeface="Arial"/>
                        <a:buChar char="•"/>
                        <a:tabLst>
                          <a:tab pos="317500" algn="l"/>
                        </a:tabLst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Employee</a:t>
                      </a:r>
                      <a:r>
                        <a:rPr spc="-30"/>
                        <a:t> </a:t>
                      </a:r>
                      <a:r>
                        <a:t>–</a:t>
                      </a:r>
                      <a:r>
                        <a:rPr spc="-25"/>
                        <a:t> </a:t>
                      </a:r>
                      <a:r>
                        <a:rPr spc="-10"/>
                        <a:t>Leave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71755" indent="0" algn="r">
                        <a:spcBef>
                          <a:spcPts val="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→</a:t>
                      </a:r>
                      <a:r>
                        <a:rPr spc="110"/>
                        <a:t> </a:t>
                      </a:r>
                      <a:r>
                        <a:rPr spc="35"/>
                        <a:t>connects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14604" indent="0" algn="ctr">
                        <a:spcBef>
                          <a:spcPts val="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49530">
                        <a:spcBef>
                          <a:spcPts val="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</a:t>
                      </a:r>
                      <a:r>
                        <a:rPr spc="200"/>
                        <a:t> </a:t>
                      </a:r>
                      <a:r>
                        <a:t>leave</a:t>
                      </a:r>
                      <a:r>
                        <a:rPr spc="405"/>
                        <a:t> </a:t>
                      </a:r>
                      <a:r>
                        <a:rPr spc="-10"/>
                        <a:t>records.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318134" indent="-286384">
                        <a:lnSpc>
                          <a:spcPts val="1900"/>
                        </a:lnSpc>
                        <a:spcBef>
                          <a:spcPts val="400"/>
                        </a:spcBef>
                        <a:buClr>
                          <a:srgbClr val="4766AC"/>
                        </a:buClr>
                        <a:buSzPct val="100000"/>
                        <a:buFont typeface="Arial"/>
                        <a:buChar char="•"/>
                        <a:tabLst>
                          <a:tab pos="317500" algn="l"/>
                        </a:tabLst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Employee</a:t>
                      </a:r>
                      <a:r>
                        <a:rPr spc="-35"/>
                        <a:t> </a:t>
                      </a:r>
                      <a:r>
                        <a:t>–</a:t>
                      </a:r>
                      <a:r>
                        <a:rPr spc="-30"/>
                        <a:t> </a:t>
                      </a:r>
                      <a:r>
                        <a:rPr spc="-10"/>
                        <a:t>Payroll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R="50800" indent="0" algn="r">
                        <a:lnSpc>
                          <a:spcPts val="1900"/>
                        </a:lnSpc>
                        <a:spcBef>
                          <a:spcPts val="40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→</a:t>
                      </a:r>
                      <a:r>
                        <a:rPr spc="150"/>
                        <a:t> </a:t>
                      </a:r>
                      <a:r>
                        <a:rPr spc="35"/>
                        <a:t>connects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900"/>
                        </a:lnSpc>
                        <a:spcBef>
                          <a:spcPts val="400"/>
                        </a:spcBef>
                        <a:defRPr sz="1800" spc="0"/>
                      </a:pPr>
                      <a:r>
                        <a:rPr sz="1600" spc="-1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employees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indent="90805">
                        <a:lnSpc>
                          <a:spcPts val="1900"/>
                        </a:lnSpc>
                        <a:spcBef>
                          <a:spcPts val="400"/>
                        </a:spcBef>
                        <a:defRPr sz="1600" spc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</a:t>
                      </a:r>
                      <a:r>
                        <a:rPr spc="285"/>
                        <a:t> </a:t>
                      </a:r>
                      <a:r>
                        <a:t>payroll</a:t>
                      </a:r>
                      <a:r>
                        <a:rPr spc="285"/>
                        <a:t> </a:t>
                      </a:r>
                      <a:r>
                        <a:rPr spc="-10"/>
                        <a:t>records.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1" name="object 11"/>
          <p:cNvSpPr txBox="1"/>
          <p:nvPr/>
        </p:nvSpPr>
        <p:spPr>
          <a:xfrm>
            <a:off x="10905869" y="6385055"/>
            <a:ext cx="406401" cy="21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z="1600" spc="-25">
                <a:solidFill>
                  <a:srgbClr val="4766A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12</a:t>
            </a:r>
          </a:p>
        </p:txBody>
      </p:sp>
      <p:sp>
        <p:nvSpPr>
          <p:cNvPr id="152" name="TextBox 12"/>
          <p:cNvSpPr txBox="1"/>
          <p:nvPr/>
        </p:nvSpPr>
        <p:spPr>
          <a:xfrm>
            <a:off x="1802930" y="1949982"/>
            <a:ext cx="9692494" cy="1225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 → Used to organize employees according to their respective departments. </a:t>
            </a:r>
          </a:p>
          <a:p>
            <a:pPr marL="342900" indent="-342900"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    → Used to store basic information about employees. </a:t>
            </a:r>
          </a:p>
          <a:p>
            <a:pPr marL="342900" indent="-342900"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Attendance  → Used to maintain the daily attendance records of employees. </a:t>
            </a:r>
          </a:p>
          <a:p>
            <a:pPr marL="342900" indent="-342900"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Leave           → Used to manage employee leave information. </a:t>
            </a:r>
          </a:p>
          <a:p>
            <a:pPr marL="342900" indent="-342900"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Payroll         → Used to maintain salary, bonus, deduction, and net salary information.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10"/>
          <p:cNvSpPr txBox="1"/>
          <p:nvPr/>
        </p:nvSpPr>
        <p:spPr>
          <a:xfrm>
            <a:off x="2645791" y="6383338"/>
            <a:ext cx="151117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000" b="1" spc="-30">
                <a:solidFill>
                  <a:srgbClr val="7C7C7C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Course</a:t>
            </a:r>
            <a:r>
              <a:rPr spc="-45"/>
              <a:t> </a:t>
            </a:r>
            <a:r>
              <a:rPr spc="-19"/>
              <a:t>Name</a:t>
            </a:r>
          </a:p>
        </p:txBody>
      </p:sp>
      <p:grpSp>
        <p:nvGrpSpPr>
          <p:cNvPr id="157" name="object 3"/>
          <p:cNvGrpSpPr/>
          <p:nvPr/>
        </p:nvGrpSpPr>
        <p:grpSpPr>
          <a:xfrm>
            <a:off x="-1" y="0"/>
            <a:ext cx="12192001" cy="6121273"/>
            <a:chOff x="0" y="0"/>
            <a:chExt cx="12192000" cy="6121272"/>
          </a:xfrm>
        </p:grpSpPr>
        <p:sp>
          <p:nvSpPr>
            <p:cNvPr id="155" name="object 5"/>
            <p:cNvSpPr/>
            <p:nvPr/>
          </p:nvSpPr>
          <p:spPr>
            <a:xfrm>
              <a:off x="0" y="6121272"/>
              <a:ext cx="1219200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56" name="object 6" descr="object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3008884" cy="15566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8" name="object 7"/>
          <p:cNvSpPr txBox="1">
            <a:spLocks noGrp="1"/>
          </p:cNvSpPr>
          <p:nvPr>
            <p:ph type="title"/>
          </p:nvPr>
        </p:nvSpPr>
        <p:spPr>
          <a:xfrm>
            <a:off x="2433320" y="574369"/>
            <a:ext cx="7325360" cy="413576"/>
          </a:xfrm>
          <a:prstGeom prst="rect">
            <a:avLst/>
          </a:prstGeom>
        </p:spPr>
        <p:txBody>
          <a:bodyPr/>
          <a:lstStyle/>
          <a:p>
            <a:pPr indent="3161664">
              <a:spcBef>
                <a:spcPts val="100"/>
              </a:spcBef>
              <a:defRPr b="1" spc="-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ER</a:t>
            </a:r>
            <a:r>
              <a:rPr spc="-500"/>
              <a:t> </a:t>
            </a:r>
            <a:r>
              <a:t>MODEL</a:t>
            </a:r>
          </a:p>
        </p:txBody>
      </p:sp>
      <p:sp>
        <p:nvSpPr>
          <p:cNvPr id="159" name="object 9"/>
          <p:cNvSpPr txBox="1"/>
          <p:nvPr/>
        </p:nvSpPr>
        <p:spPr>
          <a:xfrm>
            <a:off x="1570736" y="6383338"/>
            <a:ext cx="8534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000" b="1" spc="-120">
                <a:solidFill>
                  <a:srgbClr val="7C7C7C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09-08-</a:t>
            </a:r>
            <a:r>
              <a:rPr spc="-19"/>
              <a:t>2026</a:t>
            </a:r>
          </a:p>
        </p:txBody>
      </p:sp>
      <p:sp>
        <p:nvSpPr>
          <p:cNvPr id="160" name="object 11"/>
          <p:cNvSpPr txBox="1"/>
          <p:nvPr/>
        </p:nvSpPr>
        <p:spPr>
          <a:xfrm>
            <a:off x="5769609" y="6383338"/>
            <a:ext cx="2026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000" b="1" spc="-45">
                <a:solidFill>
                  <a:srgbClr val="7C7C7C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Faculty</a:t>
            </a:r>
            <a:r>
              <a:rPr spc="-104"/>
              <a:t> </a:t>
            </a:r>
            <a:r>
              <a:rPr spc="0"/>
              <a:t>Name,</a:t>
            </a:r>
            <a:r>
              <a:rPr spc="125"/>
              <a:t> </a:t>
            </a:r>
            <a:r>
              <a:rPr spc="-60"/>
              <a:t>Designation,</a:t>
            </a:r>
            <a:r>
              <a:rPr spc="19"/>
              <a:t> </a:t>
            </a:r>
            <a:r>
              <a:rPr spc="-19"/>
              <a:t>Dept.</a:t>
            </a:r>
          </a:p>
        </p:txBody>
      </p:sp>
      <p:pic>
        <p:nvPicPr>
          <p:cNvPr id="161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" y="920613"/>
            <a:ext cx="12185524" cy="571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 txBox="1">
            <a:spLocks noGrp="1"/>
          </p:cNvSpPr>
          <p:nvPr>
            <p:ph type="title"/>
          </p:nvPr>
        </p:nvSpPr>
        <p:spPr>
          <a:xfrm>
            <a:off x="4572000" y="438092"/>
            <a:ext cx="3352800" cy="400111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TABLES  CREATION</a:t>
            </a:r>
          </a:p>
        </p:txBody>
      </p:sp>
      <p:sp>
        <p:nvSpPr>
          <p:cNvPr id="164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951001" y="2074783"/>
            <a:ext cx="5341877" cy="2708434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DEPARTMENT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DEPARTMENT_ID INTEGER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DEPARTMENT_NAME VARCHAR(30)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STREET VARCHAR(50),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CITY VARCHAR(30),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STATE VARCHAR(30),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ZIPCODE VARCHAR(10)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sp>
        <p:nvSpPr>
          <p:cNvPr id="165" name="TextBox 7"/>
          <p:cNvSpPr txBox="1"/>
          <p:nvPr/>
        </p:nvSpPr>
        <p:spPr>
          <a:xfrm>
            <a:off x="4716708" y="1119108"/>
            <a:ext cx="2779203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DEPARTMENT TABLE</a:t>
            </a:r>
          </a:p>
        </p:txBody>
      </p:sp>
      <p:pic>
        <p:nvPicPr>
          <p:cNvPr id="16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676400"/>
            <a:ext cx="5638800" cy="37590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1"/>
          <p:cNvSpPr txBox="1">
            <a:spLocks noGrp="1"/>
          </p:cNvSpPr>
          <p:nvPr>
            <p:ph type="title"/>
          </p:nvPr>
        </p:nvSpPr>
        <p:spPr>
          <a:xfrm>
            <a:off x="4495799" y="877703"/>
            <a:ext cx="1981201" cy="475619"/>
          </a:xfrm>
          <a:prstGeom prst="rect">
            <a:avLst/>
          </a:prstGeom>
        </p:spPr>
        <p:txBody>
          <a:bodyPr/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JOB TABLE</a:t>
            </a:r>
          </a:p>
        </p:txBody>
      </p:sp>
      <p:sp>
        <p:nvSpPr>
          <p:cNvPr id="169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28600" y="2017695"/>
            <a:ext cx="4952999" cy="2000549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JOB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JOB_ID INTEGER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JOB_TITLE VARCHAR(40)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JOB_DESCRIPTION VARCHAR(100),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BASIC_SALARY INTEGER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170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8" y="1676400"/>
            <a:ext cx="6563717" cy="3260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121920" y="1145618"/>
            <a:ext cx="4952999" cy="4185763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EMPLOYEE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EMPLOYEE_ID NUMBER(5)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FIRST_NAME VARCHAR(20)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MIDDLE_NAME VARCHAR(20)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LAST_NAME VARCHAR(20)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DOB DATE,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EMAIL VARCHAR(50),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DEPARTMENT_ID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JOB_ID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CONSTRAINT FK_EMP_DEPT FOREIGN KEY (DEPARTMENT_ID)REFERENCES DEPARTMENT(DEPARTMENT_ID),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CONSTRAINT FK_EMP_JOB FOREIGN KEY 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(JOB_ID) REFERENCES JOB(JOB_ID)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sp>
        <p:nvSpPr>
          <p:cNvPr id="173" name="TextBox 6"/>
          <p:cNvSpPr txBox="1"/>
          <p:nvPr/>
        </p:nvSpPr>
        <p:spPr>
          <a:xfrm>
            <a:off x="5217160" y="467359"/>
            <a:ext cx="2223379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EMPLOYEE TABLE</a:t>
            </a:r>
          </a:p>
        </p:txBody>
      </p:sp>
      <p:pic>
        <p:nvPicPr>
          <p:cNvPr id="17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428747"/>
            <a:ext cx="7062910" cy="36195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1"/>
          <p:cNvSpPr txBox="1">
            <a:spLocks noGrp="1"/>
          </p:cNvSpPr>
          <p:nvPr>
            <p:ph type="title"/>
          </p:nvPr>
        </p:nvSpPr>
        <p:spPr>
          <a:xfrm>
            <a:off x="3962400" y="637947"/>
            <a:ext cx="3962400" cy="343338"/>
          </a:xfrm>
          <a:prstGeom prst="rect">
            <a:avLst/>
          </a:prstGeom>
        </p:spPr>
        <p:txBody>
          <a:bodyPr/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EMPLOYEE_PHONE TABLE</a:t>
            </a:r>
          </a:p>
        </p:txBody>
      </p:sp>
      <p:sp>
        <p:nvSpPr>
          <p:cNvPr id="177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380999" y="1447799"/>
            <a:ext cx="5029279" cy="3200878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EMPLOYEE_PHONE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EMPLOYEE_ID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PHONE VARCHAR(15),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CONSTRAINT PK_EMP_PHONE PRIMARY KEY (EMPLOYEE_ID, PHONE),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CONSTRAINT FK_PHONE_EMP FOREIGN KEY (EMPLOYEE_ID) REFERENCES EMPLOYEE(EMPLOYEE_ID)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17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892" y="1147045"/>
            <a:ext cx="4114801" cy="45639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>
            <a:spLocks noGrp="1"/>
          </p:cNvSpPr>
          <p:nvPr>
            <p:ph type="title"/>
          </p:nvPr>
        </p:nvSpPr>
        <p:spPr>
          <a:xfrm>
            <a:off x="4267199" y="685800"/>
            <a:ext cx="3053082" cy="26383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41247">
              <a:defRPr sz="184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ATTENDENCE TABLE</a:t>
            </a:r>
          </a:p>
        </p:txBody>
      </p:sp>
      <p:sp>
        <p:nvSpPr>
          <p:cNvPr id="181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228599" y="1828323"/>
            <a:ext cx="5257801" cy="3200878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ATTENDANCE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ATTENDANCE_ID INTEGER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EMPLOYEE_ID INTEGER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ATTENDANCE_DATE DATE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CHECKIN VARCHAR(10),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CHECKOUT VARCHAR(10),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STATUS VARCHAR(15),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CONSTRAINT FK_ATT_EMP FOREIGN KEY (EMPLOYEE_ID) REFERENCES EMPLOYEE(EMPLOYEE_ID)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853235"/>
            <a:ext cx="6533912" cy="34291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>
            <a:spLocks noGrp="1"/>
          </p:cNvSpPr>
          <p:nvPr>
            <p:ph type="title"/>
          </p:nvPr>
        </p:nvSpPr>
        <p:spPr>
          <a:xfrm>
            <a:off x="4495800" y="762000"/>
            <a:ext cx="2214880" cy="26383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41247">
              <a:defRPr sz="184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LEAVE TABLE</a:t>
            </a:r>
          </a:p>
        </p:txBody>
      </p:sp>
      <p:sp>
        <p:nvSpPr>
          <p:cNvPr id="185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09599" y="1490280"/>
            <a:ext cx="4343479" cy="3693321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LEAVE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LEAVE_ID INTEGER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EMPLOYEE_ID INTEGER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LEAVE_TYPE VARCHAR(20),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START_DATE DATE,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END_DATE DATE,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LEAVE_STATUS VARCHAR(20),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REASON VARCHAR(100),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CONSTRAINT FK_LEAVE_EMP FOREIGN KEY (EMPLOYEE_ID) REFERENCES EMPLOYEE(EMPLOYEE_ID)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186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00186"/>
            <a:ext cx="6924762" cy="30735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>
            <a:spLocks noGrp="1"/>
          </p:cNvSpPr>
          <p:nvPr>
            <p:ph type="title"/>
          </p:nvPr>
        </p:nvSpPr>
        <p:spPr>
          <a:xfrm>
            <a:off x="4190999" y="685800"/>
            <a:ext cx="2595882" cy="307777"/>
          </a:xfrm>
          <a:prstGeom prst="rect">
            <a:avLst/>
          </a:prstGeom>
        </p:spPr>
        <p:txBody>
          <a:bodyPr/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PAYROLL TABLE</a:t>
            </a:r>
          </a:p>
        </p:txBody>
      </p:sp>
      <p:sp>
        <p:nvSpPr>
          <p:cNvPr id="189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1593659" y="1986700"/>
            <a:ext cx="6002596" cy="3200877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TABLE PAYROLL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PAYROLL_ID INTEGER PRIMARY KEY,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EMPLOYEE_ID INTEGER NOT NULL,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SALARY_MONTH VARCHAR(20),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BASIC_SALARY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BONUS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DEDUCTION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NET_SALARY INTEGER,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CONSTRAINT FK_PAY_EMP FOREIGN KEY (EMPLOYEE_ID) REFERENCES EMPLOYEE(EMPLOYEE_ID)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19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838" y="762000"/>
            <a:ext cx="2971801" cy="50966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11" y="2133600"/>
            <a:ext cx="5921254" cy="37221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187" y="2190238"/>
            <a:ext cx="5105401" cy="402984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8"/>
          <p:cNvSpPr txBox="1"/>
          <p:nvPr/>
        </p:nvSpPr>
        <p:spPr>
          <a:xfrm>
            <a:off x="1264920" y="1154911"/>
            <a:ext cx="6009476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DEPARTMENT TABLE</a:t>
            </a:r>
          </a:p>
        </p:txBody>
      </p:sp>
      <p:sp>
        <p:nvSpPr>
          <p:cNvPr id="195" name="TextBox 9"/>
          <p:cNvSpPr txBox="1"/>
          <p:nvPr/>
        </p:nvSpPr>
        <p:spPr>
          <a:xfrm>
            <a:off x="9037319" y="1154911"/>
            <a:ext cx="1359767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JOB TABLE</a:t>
            </a:r>
          </a:p>
        </p:txBody>
      </p:sp>
      <p:sp>
        <p:nvSpPr>
          <p:cNvPr id="196" name="TextBox 11"/>
          <p:cNvSpPr txBox="1"/>
          <p:nvPr/>
        </p:nvSpPr>
        <p:spPr>
          <a:xfrm>
            <a:off x="960119" y="1671484"/>
            <a:ext cx="3185162" cy="31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DEPARTMENT;</a:t>
            </a:r>
          </a:p>
        </p:txBody>
      </p:sp>
      <p:sp>
        <p:nvSpPr>
          <p:cNvPr id="197" name="TextBox 12"/>
          <p:cNvSpPr txBox="1"/>
          <p:nvPr/>
        </p:nvSpPr>
        <p:spPr>
          <a:xfrm>
            <a:off x="8550007" y="1671484"/>
            <a:ext cx="2341920" cy="5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JOB;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5" y="2099003"/>
            <a:ext cx="7543801" cy="327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073095"/>
            <a:ext cx="2895601" cy="3930077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Box 8"/>
          <p:cNvSpPr txBox="1"/>
          <p:nvPr/>
        </p:nvSpPr>
        <p:spPr>
          <a:xfrm>
            <a:off x="1529162" y="1075039"/>
            <a:ext cx="6009477" cy="34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EMPLOYEE TABLE</a:t>
            </a:r>
          </a:p>
        </p:txBody>
      </p:sp>
      <p:sp>
        <p:nvSpPr>
          <p:cNvPr id="202" name="TextBox 9"/>
          <p:cNvSpPr txBox="1"/>
          <p:nvPr/>
        </p:nvSpPr>
        <p:spPr>
          <a:xfrm>
            <a:off x="8496562" y="1075039"/>
            <a:ext cx="3150504" cy="34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EMPLOYEE_PHONE TABLE</a:t>
            </a:r>
          </a:p>
        </p:txBody>
      </p:sp>
      <p:sp>
        <p:nvSpPr>
          <p:cNvPr id="203" name="TextBox 10"/>
          <p:cNvSpPr txBox="1"/>
          <p:nvPr/>
        </p:nvSpPr>
        <p:spPr>
          <a:xfrm>
            <a:off x="1281279" y="1600200"/>
            <a:ext cx="3154522" cy="5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EMPLOYEE;</a:t>
            </a:r>
          </a:p>
        </p:txBody>
      </p:sp>
      <p:sp>
        <p:nvSpPr>
          <p:cNvPr id="204" name="TextBox 12"/>
          <p:cNvSpPr txBox="1"/>
          <p:nvPr/>
        </p:nvSpPr>
        <p:spPr>
          <a:xfrm>
            <a:off x="8212534" y="1592577"/>
            <a:ext cx="3718561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EMPLOYEE_PHONE;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905000"/>
            <a:ext cx="6400800" cy="3602360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Box 7"/>
          <p:cNvSpPr txBox="1"/>
          <p:nvPr/>
        </p:nvSpPr>
        <p:spPr>
          <a:xfrm>
            <a:off x="5074919" y="761999"/>
            <a:ext cx="2486024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ATTENDENCE TABLE</a:t>
            </a:r>
          </a:p>
        </p:txBody>
      </p:sp>
      <p:sp>
        <p:nvSpPr>
          <p:cNvPr id="208" name="TextBox 9"/>
          <p:cNvSpPr txBox="1"/>
          <p:nvPr/>
        </p:nvSpPr>
        <p:spPr>
          <a:xfrm>
            <a:off x="4922520" y="1363637"/>
            <a:ext cx="6009476" cy="31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ATTENDANCE;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8400"/>
            <a:ext cx="6629976" cy="3017783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Box 7"/>
          <p:cNvSpPr txBox="1"/>
          <p:nvPr/>
        </p:nvSpPr>
        <p:spPr>
          <a:xfrm>
            <a:off x="5231854" y="1032486"/>
            <a:ext cx="1673311" cy="34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LEAVE TABLE</a:t>
            </a:r>
          </a:p>
        </p:txBody>
      </p:sp>
      <p:sp>
        <p:nvSpPr>
          <p:cNvPr id="212" name="TextBox 8"/>
          <p:cNvSpPr txBox="1"/>
          <p:nvPr/>
        </p:nvSpPr>
        <p:spPr>
          <a:xfrm>
            <a:off x="4846319" y="1628898"/>
            <a:ext cx="2655018" cy="5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LEAVE;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57400"/>
            <a:ext cx="6002595" cy="3801237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Box 6"/>
          <p:cNvSpPr txBox="1"/>
          <p:nvPr/>
        </p:nvSpPr>
        <p:spPr>
          <a:xfrm>
            <a:off x="4846320" y="761999"/>
            <a:ext cx="6009476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PAYROLL TABLE</a:t>
            </a:r>
          </a:p>
        </p:txBody>
      </p:sp>
      <p:sp>
        <p:nvSpPr>
          <p:cNvPr id="216" name="TextBox 7"/>
          <p:cNvSpPr txBox="1"/>
          <p:nvPr/>
        </p:nvSpPr>
        <p:spPr>
          <a:xfrm>
            <a:off x="4590653" y="1323460"/>
            <a:ext cx="2947577" cy="59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SELECT * FROM PAYROLL;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xfrm>
            <a:off x="5694069" y="418498"/>
            <a:ext cx="1757680" cy="400111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QUERIES</a:t>
            </a:r>
          </a:p>
        </p:txBody>
      </p:sp>
      <p:sp>
        <p:nvSpPr>
          <p:cNvPr id="219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620463" y="1688827"/>
            <a:ext cx="3581478" cy="1107997"/>
          </a:xfrm>
          <a:prstGeom prst="rect">
            <a:avLst/>
          </a:prstGeom>
        </p:spPr>
        <p:txBody>
          <a:bodyPr/>
          <a:lstStyle/>
          <a:p>
            <a:pPr marL="342900" indent="-342900">
              <a:buSzPct val="100000"/>
              <a:buAutoNum type="arabicPeriod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Display all employees</a:t>
            </a:r>
          </a:p>
          <a:p>
            <a:pPr marL="342900" indent="-342900">
              <a:buSzPct val="100000"/>
              <a:buAutoNum type="arabicPeriod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* FROM EMPLOYEE;</a:t>
            </a:r>
          </a:p>
        </p:txBody>
      </p:sp>
      <p:sp>
        <p:nvSpPr>
          <p:cNvPr id="220" name="TextBox 3"/>
          <p:cNvSpPr txBox="1"/>
          <p:nvPr/>
        </p:nvSpPr>
        <p:spPr>
          <a:xfrm>
            <a:off x="5551829" y="978235"/>
            <a:ext cx="2042161" cy="37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Basic Queries:</a:t>
            </a:r>
          </a:p>
        </p:txBody>
      </p:sp>
      <p:pic>
        <p:nvPicPr>
          <p:cNvPr id="221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538" y="2768381"/>
            <a:ext cx="75438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436026" y="1681237"/>
            <a:ext cx="7086677" cy="984886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Display employee names and email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FIRST_NAME, LAST_NAME, EMAIL FROM EMPLOYEE;</a:t>
            </a:r>
          </a:p>
        </p:txBody>
      </p:sp>
      <p:pic>
        <p:nvPicPr>
          <p:cNvPr id="22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141" y="1081189"/>
            <a:ext cx="4191001" cy="3124201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Box 6"/>
          <p:cNvSpPr txBox="1"/>
          <p:nvPr/>
        </p:nvSpPr>
        <p:spPr>
          <a:xfrm>
            <a:off x="1405546" y="4189364"/>
            <a:ext cx="6309361" cy="1742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Find employees from IT department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EMPLOYEE_ID, FIRST_NAME, LAST_NAME FROM EMPLOYEE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DEPARTMENT_ID = 103;</a:t>
            </a:r>
          </a:p>
        </p:txBody>
      </p:sp>
      <p:pic>
        <p:nvPicPr>
          <p:cNvPr id="226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192" y="4677478"/>
            <a:ext cx="3554858" cy="1676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4"/>
          <p:cNvSpPr txBox="1"/>
          <p:nvPr/>
        </p:nvSpPr>
        <p:spPr>
          <a:xfrm>
            <a:off x="1554022" y="1406396"/>
            <a:ext cx="6461761" cy="1263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Display employees born after January 1, 2000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EMPLOYEE_ID, FIRST_NAME, LAST_NAME, DOB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DOB &gt; DATE '2000-01-01';</a:t>
            </a:r>
          </a:p>
        </p:txBody>
      </p:sp>
      <p:pic>
        <p:nvPicPr>
          <p:cNvPr id="22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066800"/>
            <a:ext cx="3901746" cy="1905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TextBox 8"/>
          <p:cNvSpPr txBox="1"/>
          <p:nvPr/>
        </p:nvSpPr>
        <p:spPr>
          <a:xfrm>
            <a:off x="1776408" y="4317236"/>
            <a:ext cx="5813215" cy="151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Display employees in alphabetical order</a:t>
            </a:r>
          </a:p>
          <a:p>
            <a:pPr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EMPLOYEE_ID, FIRST_NAME, LAST_NAME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ORDER BY FIRST_NAME ASC;</a:t>
            </a:r>
          </a:p>
        </p:txBody>
      </p:sp>
      <p:pic>
        <p:nvPicPr>
          <p:cNvPr id="231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00400"/>
            <a:ext cx="3749346" cy="350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353612" y="1382645"/>
            <a:ext cx="5257878" cy="1508106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6</a:t>
            </a:r>
            <a:r>
              <a:rPr b="0"/>
              <a:t>. </a:t>
            </a:r>
            <a:r>
              <a:t>Find jobs with salary greater than 60000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JOB_ID, JOB_TITLE, BASIC_SALARY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JOB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BASIC_SALARY &gt; 60000;</a:t>
            </a:r>
          </a:p>
        </p:txBody>
      </p:sp>
      <p:sp>
        <p:nvSpPr>
          <p:cNvPr id="234" name="TextBox 3"/>
          <p:cNvSpPr txBox="1"/>
          <p:nvPr/>
        </p:nvSpPr>
        <p:spPr>
          <a:xfrm>
            <a:off x="1459159" y="3762252"/>
            <a:ext cx="4995266" cy="1514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7. Find employees whose first name starts with 'R’</a:t>
            </a:r>
          </a:p>
          <a:p>
            <a:pPr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*  FROM EMPLOYEE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FIRST_NAME LIKE 'R%';</a:t>
            </a:r>
          </a:p>
        </p:txBody>
      </p:sp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885" y="1115201"/>
            <a:ext cx="3581740" cy="2042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133" y="5213580"/>
            <a:ext cx="7674006" cy="990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4995639" y="1141364"/>
            <a:ext cx="4038678" cy="3077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defTabSz="786384">
              <a:defRPr sz="2064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Advanced Queries:</a:t>
            </a:r>
          </a:p>
        </p:txBody>
      </p:sp>
      <p:sp>
        <p:nvSpPr>
          <p:cNvPr id="239" name="TextBox 4"/>
          <p:cNvSpPr txBox="1"/>
          <p:nvPr/>
        </p:nvSpPr>
        <p:spPr>
          <a:xfrm>
            <a:off x="1161575" y="2233756"/>
            <a:ext cx="6309360" cy="2428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Display employees with their department names</a:t>
            </a:r>
          </a:p>
          <a:p>
            <a:pPr marL="342900" indent="-342900">
              <a:buSzPct val="100000"/>
              <a:buAutoNum type="arabicPeriod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E.EMPLOYEE_ID,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E.FIRST_NAME,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E.LAST_NAME,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D.DEPARTMENT_NAME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DEPARTMENT 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E.DEPARTMENT_ID = D.DEPARTMENT_ID;</a:t>
            </a:r>
          </a:p>
        </p:txBody>
      </p:sp>
      <p:pic>
        <p:nvPicPr>
          <p:cNvPr id="2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510" y="2041988"/>
            <a:ext cx="4648201" cy="36128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199" y="1371599"/>
            <a:ext cx="4648279" cy="3262433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Display employee, department, and job details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E.EMPLOYEE_ID,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E.FIRST_NAME,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E.LAST_NAME,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D.DEPARTMENT_NAME,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J.JOB_TITLE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DEPARTMENT 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E.DEPARTMENT_ID = D.DEPARTMENT_ID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JOB J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E.JOB_ID = J.JOB_ID;</a:t>
            </a:r>
          </a:p>
        </p:txBody>
      </p:sp>
      <p:pic>
        <p:nvPicPr>
          <p:cNvPr id="24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585944" cy="3657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4"/>
          <p:cNvSpPr txBox="1"/>
          <p:nvPr/>
        </p:nvSpPr>
        <p:spPr>
          <a:xfrm>
            <a:off x="725306" y="1391527"/>
            <a:ext cx="6009477" cy="3118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Find the employee with the highest net salary</a:t>
            </a:r>
          </a:p>
          <a:p>
            <a:pPr>
              <a:defRPr sz="1600"/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E.FIRST_NAME,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E.LAST_NAME,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P.NET_SALARY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PAYROLL P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E.EMPLOYEE_ID = P.EMPLOYEE_ID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P.NET_SALARY =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SELECT MAX(NET_SALARY)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FROM PAYROLL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246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40" y="5195968"/>
            <a:ext cx="3429001" cy="838201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Box 11"/>
          <p:cNvSpPr txBox="1"/>
          <p:nvPr/>
        </p:nvSpPr>
        <p:spPr>
          <a:xfrm>
            <a:off x="5885012" y="1406360"/>
            <a:ext cx="5120058" cy="3381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Find employees earning above the average 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E.FIRST_NAME,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E.LAST_NAME,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P.NET_SALARY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PAYROLL P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E.EMPLOYEE_ID = P.EMPLOYEE_ID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P.NET_SALARY &gt;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SELECT AVG(NET_SALARY)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FROM PAYROLL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);</a:t>
            </a:r>
          </a:p>
        </p:txBody>
      </p:sp>
      <p:pic>
        <p:nvPicPr>
          <p:cNvPr id="248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01" y="4738768"/>
            <a:ext cx="3805080" cy="1752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427523" y="1912522"/>
            <a:ext cx="5257878" cy="2708434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Find average salary department-wise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D.DEPARTMENT_NAME,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AVG(P.NET_SALARY) AS AVERAGE_SALARY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DEPARTMENT 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E.DEPARTMENT_ID = D.DEPARTMENT_ID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PAYROLL P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E.EMPLOYEE_ID = P.EMPLOYEE_ID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BY D.DEPARTMENT_NAME;</a:t>
            </a:r>
          </a:p>
        </p:txBody>
      </p:sp>
      <p:pic>
        <p:nvPicPr>
          <p:cNvPr id="251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978" y="1921678"/>
            <a:ext cx="42672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228600" y="1206225"/>
            <a:ext cx="5943600" cy="295465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6. Find departments having average salary greater than 60000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D.DEPARTMENT_NAME,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AVG(P.NET_SALARY) AS AVERAGE_SALARY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DEPARTMENT 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E.DEPARTMENT_ID = D.DEPARTMENT_ID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PAYROLL P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E.EMPLOYEE_ID = P.EMPLOYEE_ID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BY D.DEPARTMENT_NAME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HAVING AVG(P.NET_SALARY) &gt; 60000;</a:t>
            </a:r>
          </a:p>
        </p:txBody>
      </p:sp>
      <p:pic>
        <p:nvPicPr>
          <p:cNvPr id="25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343400"/>
            <a:ext cx="4343400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11"/>
          <p:cNvSpPr txBox="1"/>
          <p:nvPr/>
        </p:nvSpPr>
        <p:spPr>
          <a:xfrm>
            <a:off x="6690360" y="1183092"/>
            <a:ext cx="5242552" cy="2635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7. Find employees who have pending leave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E.FIRST_NAME,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E.LAST_NAME,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L.LEAVE_TYPE,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L.LEAVE_STATUS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EMPLOYEE 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JOIN LEAVE L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 E.EMPLOYEE_ID = L.EMPLOYEE_ID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L.LEAVE_STATUS = 'Pending';</a:t>
            </a:r>
          </a:p>
        </p:txBody>
      </p:sp>
      <p:pic>
        <p:nvPicPr>
          <p:cNvPr id="256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505" y="4343400"/>
            <a:ext cx="3901780" cy="1371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122" y="1194307"/>
            <a:ext cx="5943679" cy="2462215"/>
          </a:xfrm>
          <a:prstGeom prst="rect">
            <a:avLst/>
          </a:prstGeom>
        </p:spPr>
        <p:txBody>
          <a:bodyPr/>
          <a:lstStyle/>
          <a:p>
            <a:pPr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8. Find employees who are either late or have pending leave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ATTENDANCE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STATUS = 'Late'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UNION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SELECT EMPLOYEE_ID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LEAVE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WHERE LEAVE_STATUS = 'Pending';</a:t>
            </a:r>
          </a:p>
        </p:txBody>
      </p:sp>
      <p:pic>
        <p:nvPicPr>
          <p:cNvPr id="25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0" y="1291913"/>
            <a:ext cx="2743246" cy="2267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0"/>
          <p:cNvSpPr txBox="1"/>
          <p:nvPr/>
        </p:nvSpPr>
        <p:spPr>
          <a:xfrm>
            <a:off x="426719" y="3669439"/>
            <a:ext cx="1107504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SCHEMA</a:t>
            </a:r>
          </a:p>
        </p:txBody>
      </p:sp>
      <p:sp>
        <p:nvSpPr>
          <p:cNvPr id="262" name="TextBox 11"/>
          <p:cNvSpPr txBox="1"/>
          <p:nvPr/>
        </p:nvSpPr>
        <p:spPr>
          <a:xfrm>
            <a:off x="426719" y="5207951"/>
            <a:ext cx="4951275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PRIMARY KEY: (EMPLOYEE_ID, PAYROLL_MONTH)</a:t>
            </a:r>
          </a:p>
        </p:txBody>
      </p:sp>
      <p:sp>
        <p:nvSpPr>
          <p:cNvPr id="263" name="TextBox 15"/>
          <p:cNvSpPr txBox="1"/>
          <p:nvPr/>
        </p:nvSpPr>
        <p:spPr>
          <a:xfrm>
            <a:off x="5604457" y="3574681"/>
            <a:ext cx="6221421" cy="274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1NF: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All attributes contain single/atomic values. 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Employee, department, and payroll information are stored in individual rows. 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attribute contains one value for each record. 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payroll record is uniquely identified by the composite key (EMPLOYEE_ID, PAYROLL_MONTH). 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Salary and bonus are recorded for each employee and payroll month. 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There are no repeating groups or multivalued attributes.</a:t>
            </a:r>
          </a:p>
        </p:txBody>
      </p:sp>
      <p:sp>
        <p:nvSpPr>
          <p:cNvPr id="264" name="TextBox 16"/>
          <p:cNvSpPr txBox="1"/>
          <p:nvPr/>
        </p:nvSpPr>
        <p:spPr>
          <a:xfrm>
            <a:off x="4465320" y="729075"/>
            <a:ext cx="3730375" cy="458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FIRST NORMAL FORM</a:t>
            </a:r>
          </a:p>
        </p:txBody>
      </p:sp>
      <p:pic>
        <p:nvPicPr>
          <p:cNvPr id="26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533259"/>
            <a:ext cx="9677400" cy="1581132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TextBox 4"/>
          <p:cNvSpPr txBox="1"/>
          <p:nvPr/>
        </p:nvSpPr>
        <p:spPr>
          <a:xfrm>
            <a:off x="426719" y="4114306"/>
            <a:ext cx="4404362" cy="997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PAYROLL_1NF ( EMPLOYEE_ID, PAYROLL_MONTH, EMPLOYEE_NAME, DEPARTMENT_ID, DEPARTMENT_NAME, SALARY, BONUS )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9632" y="1745699"/>
            <a:ext cx="7370461" cy="220980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FUNCTIONAL DEPENDENCIES: </a:t>
            </a:r>
            <a:endParaRPr lang="en-IN" dirty="0"/>
          </a:p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(EMPLOYEE_ID, PAYROLL_MONTH) → SALARY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(EMPLOYEE_ID, PAYROLL_MONTH) → BONUS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EMPLOYEE_ID → EMPLOYEE_NAME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EMPLOYEE_ID → DEPARTMENT_ID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DEPARTMENT_ID → DEPARTMENT_NAME</a:t>
            </a:r>
          </a:p>
        </p:txBody>
      </p:sp>
      <p:sp>
        <p:nvSpPr>
          <p:cNvPr id="269" name="TextBox 5"/>
          <p:cNvSpPr txBox="1"/>
          <p:nvPr/>
        </p:nvSpPr>
        <p:spPr>
          <a:xfrm>
            <a:off x="902234" y="4144560"/>
            <a:ext cx="9326880" cy="2215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ANOMALIES IN 1NF: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Update Anomaly</a:t>
            </a:r>
            <a:br/>
            <a:r>
              <a:rPr b="0"/>
              <a:t>Employee and department details are repeated for every payroll month.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Insert Anomaly</a:t>
            </a:r>
            <a:br/>
            <a:r>
              <a:rPr b="0"/>
              <a:t>A new employee cannot be easily inserted unless a payroll record is also available.</a:t>
            </a:r>
          </a:p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Delete Anomaly</a:t>
            </a:r>
            <a:br/>
            <a:r>
              <a:rPr b="0"/>
              <a:t>Deleting a payroll record may accidentally remove important employee information.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 6"/>
          <p:cNvSpPr txBox="1"/>
          <p:nvPr/>
        </p:nvSpPr>
        <p:spPr>
          <a:xfrm>
            <a:off x="45719" y="2375123"/>
            <a:ext cx="5013962" cy="997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SCHEMA : 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EMPLOYEE_2NF ( EMPLOYEE_ID, EMPLOYEE_NAME, DEPARTMENT_ID, DEPARTMENT_NAME )</a:t>
            </a:r>
          </a:p>
        </p:txBody>
      </p:sp>
      <p:sp>
        <p:nvSpPr>
          <p:cNvPr id="272" name="TextBox 7"/>
          <p:cNvSpPr txBox="1"/>
          <p:nvPr/>
        </p:nvSpPr>
        <p:spPr>
          <a:xfrm>
            <a:off x="45720" y="3487901"/>
            <a:ext cx="3325972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PRIMARY KEY: EMPLOYEE_ID</a:t>
            </a:r>
          </a:p>
        </p:txBody>
      </p:sp>
      <p:sp>
        <p:nvSpPr>
          <p:cNvPr id="273" name="TextBox 8"/>
          <p:cNvSpPr txBox="1"/>
          <p:nvPr/>
        </p:nvSpPr>
        <p:spPr>
          <a:xfrm>
            <a:off x="14475" y="3939845"/>
            <a:ext cx="4785362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FUNCTIONAL DEPENDENCIES:</a:t>
            </a:r>
            <a:endParaRPr lang="en-US" dirty="0"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EMPLOYEE_ID → EMPLOYEE_NAME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EMPLOYEE_ID → DEPARTMENT_ID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DEPARTMENT_ID → DEPARTMENT_NAME</a:t>
            </a:r>
            <a:endParaRPr dirty="0"/>
          </a:p>
        </p:txBody>
      </p:sp>
      <p:sp>
        <p:nvSpPr>
          <p:cNvPr id="274" name="TextBox 12"/>
          <p:cNvSpPr txBox="1"/>
          <p:nvPr/>
        </p:nvSpPr>
        <p:spPr>
          <a:xfrm>
            <a:off x="6217919" y="2834110"/>
            <a:ext cx="3108962" cy="997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SCHEMA: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PAYROLL_2NF ( EMPLOYEE_ID, PAYROLL_MONTH, SALARY, BONUS )</a:t>
            </a:r>
          </a:p>
        </p:txBody>
      </p:sp>
      <p:sp>
        <p:nvSpPr>
          <p:cNvPr id="275" name="TextBox 1"/>
          <p:cNvSpPr txBox="1"/>
          <p:nvPr/>
        </p:nvSpPr>
        <p:spPr>
          <a:xfrm>
            <a:off x="6141719" y="4715610"/>
            <a:ext cx="5481322" cy="768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FUNCTIONAL DEPENDENCIES</a:t>
            </a:r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(EMPLOYEE_ID, PAYROLL_MONTH) → SALARY (EMPLOYEE_ID, PAYROLL_MONTH) → BONUS</a:t>
            </a:r>
          </a:p>
        </p:txBody>
      </p:sp>
      <p:sp>
        <p:nvSpPr>
          <p:cNvPr id="276" name="TextBox 3"/>
          <p:cNvSpPr txBox="1"/>
          <p:nvPr/>
        </p:nvSpPr>
        <p:spPr>
          <a:xfrm>
            <a:off x="4079352" y="297592"/>
            <a:ext cx="4139901" cy="458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SECOND NORMAL FORM</a:t>
            </a:r>
          </a:p>
        </p:txBody>
      </p:sp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0" y="1220469"/>
            <a:ext cx="5159881" cy="10556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icture 13" descr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95887"/>
            <a:ext cx="4114800" cy="1341237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Box 14"/>
          <p:cNvSpPr txBox="1"/>
          <p:nvPr/>
        </p:nvSpPr>
        <p:spPr>
          <a:xfrm>
            <a:off x="6217919" y="3911329"/>
            <a:ext cx="4862672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PRIMARY KEY(EMPLOYEE_ID, PAYROLL_MONTH)</a:t>
            </a:r>
          </a:p>
        </p:txBody>
      </p:sp>
      <p:sp>
        <p:nvSpPr>
          <p:cNvPr id="280" name="TextBox 15"/>
          <p:cNvSpPr txBox="1"/>
          <p:nvPr/>
        </p:nvSpPr>
        <p:spPr>
          <a:xfrm>
            <a:off x="5913120" y="4249882"/>
            <a:ext cx="6628526" cy="540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FOREIGN KEY</a:t>
            </a:r>
            <a:r>
              <a:rPr b="1"/>
              <a:t>:</a:t>
            </a:r>
            <a:r>
              <a:t>EMPLOYEE_ID → EMPLOYEE_2NF(EMPLOYEE_ID)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5"/>
          <p:cNvSpPr txBox="1"/>
          <p:nvPr/>
        </p:nvSpPr>
        <p:spPr>
          <a:xfrm>
            <a:off x="337819" y="1447799"/>
            <a:ext cx="4191002" cy="98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PARTIAL DEPENDENCIES:</a:t>
            </a:r>
          </a:p>
          <a:p>
            <a:pPr>
              <a:lnSpc>
                <a:spcPct val="150000"/>
              </a:lnSpc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EMPLOYEE_ID → EMPLOYEE_NAME EMPLOYEE_ID → DEPARTMENT_ID</a:t>
            </a:r>
          </a:p>
        </p:txBody>
      </p:sp>
      <p:sp>
        <p:nvSpPr>
          <p:cNvPr id="283" name="TextBox 6"/>
          <p:cNvSpPr txBox="1"/>
          <p:nvPr/>
        </p:nvSpPr>
        <p:spPr>
          <a:xfrm>
            <a:off x="4706619" y="1378058"/>
            <a:ext cx="7147562" cy="2342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ANOMALIES IN 2NF: </a:t>
            </a:r>
          </a:p>
          <a:p>
            <a:pPr>
              <a:lnSpc>
                <a:spcPct val="150000"/>
              </a:lnSpc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Update Anomaly:</a:t>
            </a:r>
            <a:r>
              <a:rPr b="0" dirty="0"/>
              <a:t> Department information may be repeated for employees belonging to the same department. </a:t>
            </a:r>
          </a:p>
          <a:p>
            <a:pPr>
              <a:lnSpc>
                <a:spcPct val="150000"/>
              </a:lnSpc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Insert Anomaly:</a:t>
            </a:r>
            <a:r>
              <a:rPr b="0" dirty="0"/>
              <a:t> A department cannot be stored independently without an employee. </a:t>
            </a:r>
          </a:p>
          <a:p>
            <a:pPr>
              <a:lnSpc>
                <a:spcPct val="150000"/>
              </a:lnSpc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Delete Anomaly:</a:t>
            </a:r>
            <a:r>
              <a:rPr b="0" dirty="0"/>
              <a:t> Deleting the last employee of a department may cause the department information to be lost</a:t>
            </a:r>
          </a:p>
        </p:txBody>
      </p:sp>
      <p:sp>
        <p:nvSpPr>
          <p:cNvPr id="284" name="TextBox 7"/>
          <p:cNvSpPr txBox="1"/>
          <p:nvPr/>
        </p:nvSpPr>
        <p:spPr>
          <a:xfrm>
            <a:off x="305864" y="3669339"/>
            <a:ext cx="6963618" cy="2800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2NF: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Remove partial dependency.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Separate Employee details from Payroll details.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EMPLOYEE_ID → EMPLOYEE_NAME, DEPARTMENT_ID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Payroll details depend on both EMPLOYEE_ID and PAYROLL_MONTH.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Create EMPLOYEE_2NF and PAYROLL_2NF tables. 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No partial dependency remains.</a:t>
            </a:r>
          </a:p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13"/>
          <p:cNvSpPr txBox="1"/>
          <p:nvPr/>
        </p:nvSpPr>
        <p:spPr>
          <a:xfrm>
            <a:off x="212869" y="2878054"/>
            <a:ext cx="6142211" cy="1107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SCHEMA:</a:t>
            </a:r>
          </a:p>
          <a:p>
            <a: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lnSpc>
                <a:spcPct val="150000"/>
              </a:lnSpc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EMPLOYEE_3NF ( EMPLOYEE_ID, EMPLOYEE_NAME, DEPARTMENT_ID ) </a:t>
            </a:r>
          </a:p>
        </p:txBody>
      </p:sp>
      <p:sp>
        <p:nvSpPr>
          <p:cNvPr id="287" name="TextBox 14"/>
          <p:cNvSpPr txBox="1"/>
          <p:nvPr/>
        </p:nvSpPr>
        <p:spPr>
          <a:xfrm>
            <a:off x="4151430" y="437714"/>
            <a:ext cx="3846301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THIRD NORMAL FORM</a:t>
            </a:r>
          </a:p>
        </p:txBody>
      </p:sp>
      <p:pic>
        <p:nvPicPr>
          <p:cNvPr id="28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85684"/>
            <a:ext cx="3980578" cy="12954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Box 8"/>
          <p:cNvSpPr txBox="1"/>
          <p:nvPr/>
        </p:nvSpPr>
        <p:spPr>
          <a:xfrm>
            <a:off x="243863" y="4106921"/>
            <a:ext cx="4704245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Primary Key: EMPLOYEE_ID</a:t>
            </a:r>
          </a:p>
        </p:txBody>
      </p:sp>
      <p:sp>
        <p:nvSpPr>
          <p:cNvPr id="292" name="TextBox 12"/>
          <p:cNvSpPr txBox="1"/>
          <p:nvPr/>
        </p:nvSpPr>
        <p:spPr>
          <a:xfrm>
            <a:off x="6538949" y="3484024"/>
            <a:ext cx="996018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SCHEMA</a:t>
            </a:r>
          </a:p>
        </p:txBody>
      </p:sp>
      <p:sp>
        <p:nvSpPr>
          <p:cNvPr id="293" name="TextBox 15"/>
          <p:cNvSpPr txBox="1"/>
          <p:nvPr/>
        </p:nvSpPr>
        <p:spPr>
          <a:xfrm>
            <a:off x="5369067" y="4977727"/>
            <a:ext cx="7763551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Primary Key: </a:t>
            </a:r>
            <a:r>
              <a:rPr lang="en-IN" dirty="0"/>
              <a:t>DEPARTMENT_ID</a:t>
            </a:r>
            <a:endParaRPr dirty="0"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Foreign Key:</a:t>
            </a:r>
            <a:r>
              <a:rPr lang="en-IN" dirty="0"/>
              <a:t> </a:t>
            </a:r>
            <a:r>
              <a:rPr lang="en-US" dirty="0"/>
              <a:t>DEPARTMENT_ID -&gt;DEPARTMENT_3NF(DEPARTMENT_ID)</a:t>
            </a:r>
            <a:endParaRPr dirty="0"/>
          </a:p>
        </p:txBody>
      </p:sp>
      <p:sp>
        <p:nvSpPr>
          <p:cNvPr id="295" name="TextBox 17"/>
          <p:cNvSpPr txBox="1"/>
          <p:nvPr/>
        </p:nvSpPr>
        <p:spPr>
          <a:xfrm>
            <a:off x="116955" y="4575440"/>
            <a:ext cx="3101837" cy="311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 b="1" u="sng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FUNCTIONAL 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A926B-C807-1C31-F0C4-A69E4AD1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217" y="1309931"/>
            <a:ext cx="3846300" cy="1371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1BE2AA-43C7-3582-4803-1781A846370C}"/>
              </a:ext>
            </a:extLst>
          </p:cNvPr>
          <p:cNvSpPr txBox="1"/>
          <p:nvPr/>
        </p:nvSpPr>
        <p:spPr>
          <a:xfrm>
            <a:off x="170792" y="5108181"/>
            <a:ext cx="6096000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EMPLOYEE_ID → EMPLOYEE_NAME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EMPLOYEE_ID → DEPARTMENT_ID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 → DEPARTMENT_NAME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34BE7-092B-C119-C4C7-769080EFD446}"/>
              </a:ext>
            </a:extLst>
          </p:cNvPr>
          <p:cNvSpPr txBox="1"/>
          <p:nvPr/>
        </p:nvSpPr>
        <p:spPr>
          <a:xfrm>
            <a:off x="6538949" y="3795433"/>
            <a:ext cx="4374857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DEPARTMENT_3NF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DEPARTMENT_ID,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DEPARTMENT_NAME)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814680" y="1243835"/>
            <a:ext cx="9067381" cy="226726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 sz="20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 ANOMALIES: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 Anomaly: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add a new department in DEPARTMENT_3NF without adding an employee.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Anomaly: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department name needs to be changed, we update it only once in DEPARTMENT_3NF.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Anomaly: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employee does not delete the department information, because department details are stored separately.</a:t>
            </a:r>
          </a:p>
          <a:p>
            <a:pPr>
              <a:lnSpc>
                <a:spcPct val="150000"/>
              </a:lnSpc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TextBox 3"/>
          <p:cNvSpPr txBox="1"/>
          <p:nvPr/>
        </p:nvSpPr>
        <p:spPr>
          <a:xfrm>
            <a:off x="814680" y="3614213"/>
            <a:ext cx="10990499" cy="289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3NF:</a:t>
            </a:r>
          </a:p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is already in 2NF.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transitive dependency.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details are separated into a Department table.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 is the primary key in the Department table.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EMPLOYEE_ID is the primary key in the Employee table.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 is used as a foreign key in the Employee table.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all non-key attributes depend directly on the primary key.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insertion, update, and deletion anomalies.</a:t>
            </a:r>
          </a:p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object 3"/>
          <p:cNvSpPr txBox="1">
            <a:spLocks noGrp="1"/>
          </p:cNvSpPr>
          <p:nvPr>
            <p:ph type="title"/>
          </p:nvPr>
        </p:nvSpPr>
        <p:spPr>
          <a:xfrm>
            <a:off x="4897516" y="1528855"/>
            <a:ext cx="2707768" cy="443712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2800" b="1"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</a:t>
            </a:r>
          </a:p>
        </p:txBody>
      </p:sp>
      <p:sp>
        <p:nvSpPr>
          <p:cNvPr id="301" name="object 2"/>
          <p:cNvSpPr txBox="1"/>
          <p:nvPr/>
        </p:nvSpPr>
        <p:spPr>
          <a:xfrm>
            <a:off x="1564322" y="2495798"/>
            <a:ext cx="9063356" cy="2027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50000"/>
              </a:lnSpc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to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effort,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and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leave,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details,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easier.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</a:t>
            </a:r>
            <a:r>
              <a:rPr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pc="-1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object 3"/>
          <p:cNvGrpSpPr/>
          <p:nvPr/>
        </p:nvGrpSpPr>
        <p:grpSpPr>
          <a:xfrm>
            <a:off x="-1" y="0"/>
            <a:ext cx="12192001" cy="6121273"/>
            <a:chOff x="0" y="0"/>
            <a:chExt cx="12192000" cy="6121272"/>
          </a:xfrm>
        </p:grpSpPr>
        <p:sp>
          <p:nvSpPr>
            <p:cNvPr id="303" name="object 5"/>
            <p:cNvSpPr/>
            <p:nvPr/>
          </p:nvSpPr>
          <p:spPr>
            <a:xfrm>
              <a:off x="0" y="6121272"/>
              <a:ext cx="12192001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304" name="object 6" descr="object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3008884" cy="15566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06" name="THANK YOU"/>
          <p:cNvSpPr txBox="1"/>
          <p:nvPr/>
        </p:nvSpPr>
        <p:spPr>
          <a:xfrm>
            <a:off x="3299026" y="2806265"/>
            <a:ext cx="5797215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5800"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2567</Words>
  <Application>Microsoft Office PowerPoint</Application>
  <PresentationFormat>Widescreen</PresentationFormat>
  <Paragraphs>444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Helvetica Neue</vt:lpstr>
      <vt:lpstr>Tahoma</vt:lpstr>
      <vt:lpstr>Times New Roman</vt:lpstr>
      <vt:lpstr>Office Theme</vt:lpstr>
      <vt:lpstr>CORNERSTONE  PROJECT BASED LEARNING</vt:lpstr>
      <vt:lpstr>TEAM MEMBERS</vt:lpstr>
      <vt:lpstr>PROBLEM STATEMENT</vt:lpstr>
      <vt:lpstr>NEED FOR THE SYSTEM</vt:lpstr>
      <vt:lpstr>OBJECTIVES</vt:lpstr>
      <vt:lpstr>REQUIREMENT ANALYSIS</vt:lpstr>
      <vt:lpstr>NON FUNCTIONAL REQUIREMENTSAND END USERS</vt:lpstr>
      <vt:lpstr>ER DESIGN OVERVIEW</vt:lpstr>
      <vt:lpstr>ENTITIES, ATTRIBUTES &amp; PRIMARY KEYS</vt:lpstr>
      <vt:lpstr>Relationship</vt:lpstr>
      <vt:lpstr>SCHEMA MODEL</vt:lpstr>
      <vt:lpstr>JUSTIFICATION OF ENTITIES AND RELATIONSHIPS</vt:lpstr>
      <vt:lpstr>ER MODEL</vt:lpstr>
      <vt:lpstr>TABLES  CREATION</vt:lpstr>
      <vt:lpstr>JOB TABLE</vt:lpstr>
      <vt:lpstr>PowerPoint Presentation</vt:lpstr>
      <vt:lpstr>EMPLOYEE_PHONE TABLE</vt:lpstr>
      <vt:lpstr>ATTENDENCE TABLE</vt:lpstr>
      <vt:lpstr>LEAVE TABLE</vt:lpstr>
      <vt:lpstr>PAYROLL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vishnuvardhan reddy</dc:creator>
  <cp:lastModifiedBy>vishnuvardhan reddy</cp:lastModifiedBy>
  <cp:revision>3</cp:revision>
  <dcterms:modified xsi:type="dcterms:W3CDTF">2026-10-03T13:41:33Z</dcterms:modified>
</cp:coreProperties>
</file>